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62" r:id="rId8"/>
    <p:sldId id="263" r:id="rId9"/>
    <p:sldId id="265" r:id="rId10"/>
    <p:sldId id="369" r:id="rId11"/>
    <p:sldId id="370" r:id="rId12"/>
    <p:sldId id="266" r:id="rId13"/>
    <p:sldId id="267" r:id="rId14"/>
    <p:sldId id="371" r:id="rId15"/>
    <p:sldId id="268" r:id="rId16"/>
    <p:sldId id="269" r:id="rId17"/>
    <p:sldId id="270" r:id="rId18"/>
    <p:sldId id="271" r:id="rId19"/>
    <p:sldId id="36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9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46365"/>
            <a:ext cx="9144000" cy="2341070"/>
          </a:xfrm>
          <a:prstGeom prst="rect">
            <a:avLst/>
          </a:prstGeom>
        </p:spPr>
        <p:txBody>
          <a:bodyPr anchor="ctr"/>
          <a:lstStyle>
            <a:lvl1pPr algn="ctr">
              <a:defRPr sz="60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38444"/>
            <a:ext cx="9144000" cy="892344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0AABBC-6ACC-8538-DF9B-F1A235A0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761" y="275300"/>
            <a:ext cx="1346200" cy="1320800"/>
          </a:xfrm>
          <a:prstGeom prst="rect">
            <a:avLst/>
          </a:prstGeom>
        </p:spPr>
      </p:pic>
      <p:pic>
        <p:nvPicPr>
          <p:cNvPr id="8" name="图片 3">
            <a:extLst>
              <a:ext uri="{FF2B5EF4-FFF2-40B4-BE49-F238E27FC236}">
                <a16:creationId xmlns:a16="http://schemas.microsoft.com/office/drawing/2014/main" id="{09DA16EF-71CC-45EB-8053-E334322717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61" y="220575"/>
            <a:ext cx="1182106" cy="119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36">
            <a:extLst>
              <a:ext uri="{FF2B5EF4-FFF2-40B4-BE49-F238E27FC236}">
                <a16:creationId xmlns:a16="http://schemas.microsoft.com/office/drawing/2014/main" id="{5B4AF0A7-DAFF-968C-2A7F-9D387FEDA53F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107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360000">
              <a:buFont typeface="Wingdings" panose="05000000000000000000" pitchFamily="2" charset="2"/>
              <a:buChar char="n"/>
              <a:defRPr b="1" baseline="0">
                <a:solidFill>
                  <a:srgbClr val="6C4B9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Rectangle 236">
            <a:extLst>
              <a:ext uri="{FF2B5EF4-FFF2-40B4-BE49-F238E27FC236}">
                <a16:creationId xmlns:a16="http://schemas.microsoft.com/office/drawing/2014/main" id="{534593BC-5833-373F-8DEE-4833B4C11259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5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637133-83FE-D4BD-36AC-4B79E41CF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761" y="275300"/>
            <a:ext cx="1346200" cy="1320800"/>
          </a:xfrm>
          <a:prstGeom prst="rect">
            <a:avLst/>
          </a:prstGeom>
        </p:spPr>
      </p:pic>
      <p:pic>
        <p:nvPicPr>
          <p:cNvPr id="9" name="图片 3">
            <a:extLst>
              <a:ext uri="{FF2B5EF4-FFF2-40B4-BE49-F238E27FC236}">
                <a16:creationId xmlns:a16="http://schemas.microsoft.com/office/drawing/2014/main" id="{B0CC1B53-3A89-BC46-8B49-D9BE9CC330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61" y="220575"/>
            <a:ext cx="1182106" cy="119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36">
            <a:extLst>
              <a:ext uri="{FF2B5EF4-FFF2-40B4-BE49-F238E27FC236}">
                <a16:creationId xmlns:a16="http://schemas.microsoft.com/office/drawing/2014/main" id="{50AAF004-DC35-CC00-B63B-4D3063D8E550}"/>
              </a:ext>
            </a:extLst>
          </p:cNvPr>
          <p:cNvSpPr/>
          <p:nvPr/>
        </p:nvSpPr>
        <p:spPr>
          <a:xfrm>
            <a:off x="844550" y="375278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27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51247"/>
            <a:ext cx="5181600" cy="4525716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n"/>
              <a:defRPr b="1">
                <a:solidFill>
                  <a:srgbClr val="6C4B90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51247"/>
            <a:ext cx="5181600" cy="45257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A89DB1-E125-D432-1C9D-A262F9DB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Rectangle 236">
            <a:extLst>
              <a:ext uri="{FF2B5EF4-FFF2-40B4-BE49-F238E27FC236}">
                <a16:creationId xmlns:a16="http://schemas.microsoft.com/office/drawing/2014/main" id="{1A4F82DD-BFB9-F67A-A8A8-EDF902196617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35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A48FC7-8786-4DCB-EF64-B6CBA776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Rectangle 236">
            <a:extLst>
              <a:ext uri="{FF2B5EF4-FFF2-40B4-BE49-F238E27FC236}">
                <a16:creationId xmlns:a16="http://schemas.microsoft.com/office/drawing/2014/main" id="{2D9475E0-FABC-F138-4DFD-F78B1ECC83A6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53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C9CB96-8E6E-C9B1-A54F-4E000875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Rectangle 236">
            <a:extLst>
              <a:ext uri="{FF2B5EF4-FFF2-40B4-BE49-F238E27FC236}">
                <a16:creationId xmlns:a16="http://schemas.microsoft.com/office/drawing/2014/main" id="{95071564-05BB-E42B-83C8-327F73FFD678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541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236">
            <a:extLst>
              <a:ext uri="{FF2B5EF4-FFF2-40B4-BE49-F238E27FC236}">
                <a16:creationId xmlns:a16="http://schemas.microsoft.com/office/drawing/2014/main" id="{35CB1EFB-8632-981D-A9BC-AD7685551FE5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75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624614"/>
            <a:ext cx="6172200" cy="39503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2" y="1624614"/>
            <a:ext cx="3932237" cy="395031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C03D65-76ED-9F4C-AE20-843AC919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Rectangle 236">
            <a:extLst>
              <a:ext uri="{FF2B5EF4-FFF2-40B4-BE49-F238E27FC236}">
                <a16:creationId xmlns:a16="http://schemas.microsoft.com/office/drawing/2014/main" id="{856E2DFD-5592-47B1-13E4-6D0A0E5C2CDB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5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600" y="1649535"/>
            <a:ext cx="6172200" cy="39253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DBC7B2-825E-4B0B-0964-E4649511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236">
            <a:extLst>
              <a:ext uri="{FF2B5EF4-FFF2-40B4-BE49-F238E27FC236}">
                <a16:creationId xmlns:a16="http://schemas.microsoft.com/office/drawing/2014/main" id="{F33CFB80-4654-0422-9571-4792A3DAB739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04CA196-B9F4-A314-C752-B3F5B618B94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144" y="1649535"/>
            <a:ext cx="4114800" cy="392539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4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A6BCF1-5ABF-7224-8689-C3371B6A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89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Rectangle 236">
            <a:extLst>
              <a:ext uri="{FF2B5EF4-FFF2-40B4-BE49-F238E27FC236}">
                <a16:creationId xmlns:a16="http://schemas.microsoft.com/office/drawing/2014/main" id="{C910E372-F135-95F1-BCCA-4B0DCB654AB0}"/>
              </a:ext>
            </a:extLst>
          </p:cNvPr>
          <p:cNvSpPr/>
          <p:nvPr/>
        </p:nvSpPr>
        <p:spPr>
          <a:xfrm>
            <a:off x="838200" y="621003"/>
            <a:ext cx="10395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zh-CN" altLang="en-US" sz="5400" b="1" u="sng" dirty="0">
                <a:ln/>
                <a:solidFill>
                  <a:srgbClr val="803A87"/>
                </a:solidFill>
              </a:rPr>
              <a:t>                                                               </a:t>
            </a:r>
            <a:endParaRPr lang="en-US" altLang="zh-CN" sz="5400" b="1" u="sng" dirty="0">
              <a:ln/>
              <a:solidFill>
                <a:srgbClr val="803A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05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43883"/>
            <a:ext cx="2628900" cy="573307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43883"/>
            <a:ext cx="7734300" cy="57330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542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10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35957"/>
            <a:ext cx="10515600" cy="4571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112A-C879-4CAA-8DF2-07F08824978C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1A078-FCF5-44DB-BFE8-C295BAB86D6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8"/>
          <p:cNvPicPr/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6598" y="6264726"/>
            <a:ext cx="4120587" cy="51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8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6C4B90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9C8A7-2208-49DC-A3BF-12048CBAC4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RecLLMSim</a:t>
            </a:r>
            <a:r>
              <a:rPr lang="en-US" altLang="zh-CN" dirty="0"/>
              <a:t>: A Task-based Recommendation Conversation Dataset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2B9971-2638-42F8-9B73-7FD8024A0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i="1" dirty="0"/>
              <a:t>Zhefan Wang</a:t>
            </a:r>
          </a:p>
          <a:p>
            <a:r>
              <a:rPr lang="en-US" altLang="zh-CN" b="1" i="1" dirty="0"/>
              <a:t>wzf23@mails.tsinghua.edu.cn</a:t>
            </a:r>
            <a:endParaRPr lang="zh-CN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295925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C6C9D-1060-49F3-A14C-5D5CE279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5402DF-F6C0-4A18-91D1-66B0F6658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Recommendation</a:t>
            </a:r>
            <a:r>
              <a:rPr lang="zh-CN" altLang="en-US" dirty="0"/>
              <a:t> </a:t>
            </a:r>
            <a:r>
              <a:rPr lang="en-US" altLang="zh-CN" dirty="0"/>
              <a:t>Form</a:t>
            </a:r>
          </a:p>
          <a:p>
            <a:pPr lvl="1"/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item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traditional</a:t>
            </a:r>
            <a:r>
              <a:rPr lang="zh-CN" altLang="en-US" dirty="0"/>
              <a:t> </a:t>
            </a:r>
            <a:r>
              <a:rPr lang="en-US" altLang="zh-CN" dirty="0"/>
              <a:t>recommendation</a:t>
            </a:r>
          </a:p>
          <a:p>
            <a:pPr lvl="1"/>
            <a:r>
              <a:rPr lang="en-US" altLang="zh-CN" dirty="0"/>
              <a:t>Task-level</a:t>
            </a:r>
            <a:r>
              <a:rPr lang="zh-CN" altLang="en-US" dirty="0"/>
              <a:t> </a:t>
            </a:r>
            <a:r>
              <a:rPr lang="en-US" altLang="zh-CN" dirty="0"/>
              <a:t>recommendation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era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</a:p>
          <a:p>
            <a:r>
              <a:rPr lang="en-US" altLang="zh-CN" dirty="0"/>
              <a:t>Conversational</a:t>
            </a:r>
            <a:r>
              <a:rPr lang="zh-CN" altLang="en-US" dirty="0"/>
              <a:t> </a:t>
            </a:r>
            <a:r>
              <a:rPr lang="en-US" altLang="zh-CN" dirty="0"/>
              <a:t>Dataset Construction</a:t>
            </a:r>
          </a:p>
          <a:p>
            <a:pPr lvl="1"/>
            <a:r>
              <a:rPr lang="en-US" altLang="zh-CN" dirty="0"/>
              <a:t>Time-consuming and laborious</a:t>
            </a:r>
          </a:p>
          <a:p>
            <a:pPr lvl="1"/>
            <a:r>
              <a:rPr lang="en-US" altLang="zh-CN" dirty="0"/>
              <a:t>Large language models brought new possibilities</a:t>
            </a:r>
          </a:p>
          <a:p>
            <a:pPr lvl="1"/>
            <a:r>
              <a:rPr lang="en-US" altLang="zh-CN" dirty="0"/>
              <a:t>LLMs’ strong role-playing abilities</a:t>
            </a:r>
          </a:p>
        </p:txBody>
      </p:sp>
    </p:spTree>
    <p:extLst>
      <p:ext uri="{BB962C8B-B14F-4D97-AF65-F5344CB8AC3E}">
        <p14:creationId xmlns:p14="http://schemas.microsoft.com/office/powerpoint/2010/main" val="3251452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86281-B53A-4BE5-9250-760170496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9D08E662-1C1C-C66B-86AC-1346BD217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1838"/>
            <a:ext cx="10515600" cy="4240161"/>
          </a:xfrm>
        </p:spPr>
      </p:pic>
    </p:spTree>
    <p:extLst>
      <p:ext uri="{BB962C8B-B14F-4D97-AF65-F5344CB8AC3E}">
        <p14:creationId xmlns:p14="http://schemas.microsoft.com/office/powerpoint/2010/main" val="215787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53FF7-89CF-462E-90E4-D21BC2CD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Related Work:</a:t>
            </a:r>
            <a:r>
              <a:rPr lang="zh-CN" altLang="en-US" sz="3600" dirty="0"/>
              <a:t> </a:t>
            </a:r>
            <a:r>
              <a:rPr lang="en-US" altLang="zh-CN" sz="3600" dirty="0"/>
              <a:t>Synthetic Data Generation via LLMs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EBAD6-D568-494D-8458-30B712B42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LLM-based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" altLang="zh-CN" dirty="0"/>
              <a:t>Annotation</a:t>
            </a:r>
            <a:endParaRPr lang="en-US" altLang="zh-CN" dirty="0"/>
          </a:p>
          <a:p>
            <a:pPr lvl="1"/>
            <a:r>
              <a:rPr lang="en-US" altLang="zh-CN" dirty="0"/>
              <a:t>Manually</a:t>
            </a:r>
            <a:r>
              <a:rPr lang="zh-CN" altLang="en-US" dirty="0"/>
              <a:t> </a:t>
            </a:r>
            <a:r>
              <a:rPr lang="en-US" altLang="zh-CN" dirty="0"/>
              <a:t>engineered</a:t>
            </a:r>
            <a:r>
              <a:rPr lang="zh-CN" altLang="en-US" dirty="0"/>
              <a:t> </a:t>
            </a:r>
            <a:r>
              <a:rPr lang="en-US" altLang="zh-CN" dirty="0"/>
              <a:t>prompts:</a:t>
            </a:r>
            <a:r>
              <a:rPr lang="zh-CN" altLang="en-US" dirty="0"/>
              <a:t> </a:t>
            </a:r>
            <a:r>
              <a:rPr lang="en-US" altLang="zh-CN" dirty="0"/>
              <a:t>ZEROGEN,</a:t>
            </a:r>
            <a:r>
              <a:rPr lang="zh-CN" altLang="en-US" dirty="0"/>
              <a:t> </a:t>
            </a:r>
            <a:r>
              <a:rPr lang="en-US" altLang="zh-CN" dirty="0" err="1"/>
              <a:t>SuperICL</a:t>
            </a:r>
            <a:endParaRPr lang="en-US" altLang="zh-CN" dirty="0"/>
          </a:p>
          <a:p>
            <a:pPr lvl="1"/>
            <a:r>
              <a:rPr lang="en-US" altLang="zh-CN" dirty="0"/>
              <a:t>Alignment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pairwise</a:t>
            </a:r>
            <a:r>
              <a:rPr lang="zh-CN" altLang="en-US" dirty="0"/>
              <a:t> </a:t>
            </a:r>
            <a:r>
              <a:rPr lang="en-US" altLang="zh-CN" dirty="0"/>
              <a:t>feedback:</a:t>
            </a:r>
            <a:r>
              <a:rPr lang="zh-CN" altLang="en-US" dirty="0"/>
              <a:t> </a:t>
            </a:r>
            <a:r>
              <a:rPr lang="en-US" altLang="zh-CN" dirty="0"/>
              <a:t>RLAIF,</a:t>
            </a:r>
            <a:r>
              <a:rPr lang="zh-CN" altLang="en-US" dirty="0"/>
              <a:t> </a:t>
            </a:r>
            <a:r>
              <a:rPr lang="en-US" altLang="zh-CN" dirty="0"/>
              <a:t>Self-Rewarding</a:t>
            </a:r>
          </a:p>
          <a:p>
            <a:r>
              <a:rPr lang="en-US" altLang="zh-CN" dirty="0"/>
              <a:t>LLM-based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Generation</a:t>
            </a:r>
          </a:p>
          <a:p>
            <a:pPr lvl="1"/>
            <a:r>
              <a:rPr lang="en-US" altLang="zh-CN" dirty="0"/>
              <a:t>Instruction</a:t>
            </a:r>
            <a:r>
              <a:rPr lang="zh-CN" altLang="en-US" dirty="0"/>
              <a:t> </a:t>
            </a:r>
            <a:r>
              <a:rPr lang="en-US" altLang="zh-CN" dirty="0"/>
              <a:t>generation:</a:t>
            </a:r>
            <a:r>
              <a:rPr lang="zh-CN" altLang="en-US" dirty="0"/>
              <a:t> </a:t>
            </a:r>
            <a:r>
              <a:rPr lang="en-US" altLang="zh-CN" dirty="0" err="1"/>
              <a:t>WizardLM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Self-Instruct</a:t>
            </a:r>
          </a:p>
          <a:p>
            <a:pPr lvl="1"/>
            <a:r>
              <a:rPr lang="en-US" altLang="zh-CN" dirty="0"/>
              <a:t>Complete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generation:</a:t>
            </a:r>
            <a:r>
              <a:rPr lang="zh-CN" altLang="en-US" dirty="0"/>
              <a:t> </a:t>
            </a:r>
            <a:r>
              <a:rPr lang="en-US" altLang="zh-CN" dirty="0" err="1"/>
              <a:t>Chataug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UltraLLaMA</a:t>
            </a:r>
            <a:endParaRPr lang="en-US" altLang="zh-CN" dirty="0"/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Retrieval</a:t>
            </a:r>
          </a:p>
          <a:p>
            <a:pPr lvl="1"/>
            <a:r>
              <a:rPr lang="en-US" altLang="zh-CN" dirty="0"/>
              <a:t>InPars-v2:</a:t>
            </a:r>
            <a:r>
              <a:rPr lang="zh-CN" altLang="en-US" dirty="0"/>
              <a:t> </a:t>
            </a:r>
            <a:r>
              <a:rPr lang="en-US" altLang="zh-CN" dirty="0"/>
              <a:t>Generate</a:t>
            </a:r>
            <a:r>
              <a:rPr lang="zh-CN" altLang="en-US" dirty="0"/>
              <a:t> </a:t>
            </a:r>
            <a:r>
              <a:rPr lang="en-US" altLang="zh-CN" dirty="0"/>
              <a:t>relevant</a:t>
            </a:r>
            <a:r>
              <a:rPr lang="zh-CN" altLang="en-US" dirty="0"/>
              <a:t> </a:t>
            </a:r>
            <a:r>
              <a:rPr lang="en-US" altLang="zh-CN" dirty="0"/>
              <a:t>queries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documents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few-show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12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C8801-49BE-44D4-B308-0C7B3CFF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Related Work: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FA53D9-A027-48B9-A779-245450032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CRS</a:t>
            </a:r>
          </a:p>
          <a:p>
            <a:pPr lvl="1"/>
            <a:r>
              <a:rPr lang="en-US" altLang="zh-CN" dirty="0"/>
              <a:t>Zero-shot</a:t>
            </a:r>
            <a:r>
              <a:rPr lang="zh-CN" altLang="en-US" dirty="0"/>
              <a:t> </a:t>
            </a:r>
            <a:r>
              <a:rPr lang="en-US" altLang="zh-CN" dirty="0"/>
              <a:t>CRS:</a:t>
            </a:r>
            <a:r>
              <a:rPr lang="zh-CN" altLang="en-US" dirty="0"/>
              <a:t> </a:t>
            </a:r>
            <a:r>
              <a:rPr lang="en-US" altLang="zh-CN" dirty="0"/>
              <a:t>Prompting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grounding,</a:t>
            </a:r>
            <a:r>
              <a:rPr lang="zh-CN" altLang="en-US" dirty="0"/>
              <a:t> </a:t>
            </a:r>
            <a:r>
              <a:rPr lang="en-US" altLang="zh-CN" dirty="0"/>
              <a:t>Conversational</a:t>
            </a:r>
            <a:r>
              <a:rPr lang="zh-CN" altLang="en-US" dirty="0"/>
              <a:t> </a:t>
            </a:r>
            <a:r>
              <a:rPr lang="en-US" altLang="zh-CN" dirty="0"/>
              <a:t>Movie</a:t>
            </a:r>
            <a:r>
              <a:rPr lang="zh-CN" altLang="en-US" dirty="0"/>
              <a:t> </a:t>
            </a:r>
            <a:r>
              <a:rPr lang="en-US" altLang="zh-CN" dirty="0"/>
              <a:t>Recommender</a:t>
            </a:r>
          </a:p>
          <a:p>
            <a:pPr lvl="1"/>
            <a:r>
              <a:rPr lang="en-US" altLang="zh-CN" dirty="0"/>
              <a:t>Multi-agent:</a:t>
            </a:r>
            <a:r>
              <a:rPr lang="zh-CN" altLang="en-US" dirty="0"/>
              <a:t> </a:t>
            </a:r>
            <a:r>
              <a:rPr lang="en-US" altLang="zh-CN" dirty="0"/>
              <a:t>MACRS</a:t>
            </a:r>
          </a:p>
          <a:p>
            <a:r>
              <a:rPr lang="en-US" altLang="zh-CN" dirty="0"/>
              <a:t>User Simulation via</a:t>
            </a:r>
            <a:r>
              <a:rPr lang="zh-CN" altLang="en-US" dirty="0"/>
              <a:t> </a:t>
            </a:r>
            <a:r>
              <a:rPr lang="en-US" altLang="zh-CN" dirty="0"/>
              <a:t>LLMs:</a:t>
            </a:r>
          </a:p>
          <a:p>
            <a:pPr lvl="1"/>
            <a:r>
              <a:rPr lang="en-US" altLang="zh-CN" dirty="0"/>
              <a:t>Evaluate</a:t>
            </a:r>
            <a:r>
              <a:rPr lang="zh-CN" altLang="en-US" dirty="0"/>
              <a:t> </a:t>
            </a:r>
            <a:r>
              <a:rPr lang="en-US" altLang="zh-CN" dirty="0"/>
              <a:t>CRS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LLMs:</a:t>
            </a:r>
            <a:r>
              <a:rPr lang="zh-CN" altLang="en-US" dirty="0"/>
              <a:t> </a:t>
            </a:r>
            <a:r>
              <a:rPr lang="en-US" altLang="zh-CN" dirty="0" err="1"/>
              <a:t>iEvaLM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SimpleUserSim</a:t>
            </a:r>
            <a:endParaRPr lang="en-US" altLang="zh-CN" dirty="0"/>
          </a:p>
          <a:p>
            <a:pPr lvl="2"/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leakage,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user</a:t>
            </a:r>
            <a:r>
              <a:rPr lang="zh-CN" altLang="en-US" dirty="0"/>
              <a:t> </a:t>
            </a:r>
            <a:r>
              <a:rPr lang="en-US" altLang="zh-CN" dirty="0"/>
              <a:t>profile,</a:t>
            </a:r>
            <a:r>
              <a:rPr lang="zh-CN" altLang="en-US" dirty="0"/>
              <a:t> </a:t>
            </a:r>
            <a:r>
              <a:rPr lang="en-US" altLang="zh-CN" dirty="0"/>
              <a:t>fixed</a:t>
            </a:r>
            <a:r>
              <a:rPr lang="zh-CN" altLang="en-US" dirty="0"/>
              <a:t> </a:t>
            </a:r>
            <a:r>
              <a:rPr lang="en-US" altLang="zh-CN" dirty="0"/>
              <a:t>scenarios</a:t>
            </a:r>
          </a:p>
          <a:p>
            <a:pPr lvl="2"/>
            <a:r>
              <a:rPr lang="en-US" altLang="zh-CN" dirty="0"/>
              <a:t>No dataset is generated</a:t>
            </a:r>
          </a:p>
        </p:txBody>
      </p:sp>
    </p:spTree>
    <p:extLst>
      <p:ext uri="{BB962C8B-B14F-4D97-AF65-F5344CB8AC3E}">
        <p14:creationId xmlns:p14="http://schemas.microsoft.com/office/powerpoint/2010/main" val="51615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F61A4-8FEC-4B40-BF12-1C79297D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 Construction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C3903E53-2C26-7C80-2E82-034F8B6F3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" y="1900414"/>
            <a:ext cx="12190013" cy="3329041"/>
          </a:xfrm>
        </p:spPr>
      </p:pic>
    </p:spTree>
    <p:extLst>
      <p:ext uri="{BB962C8B-B14F-4D97-AF65-F5344CB8AC3E}">
        <p14:creationId xmlns:p14="http://schemas.microsoft.com/office/powerpoint/2010/main" val="76040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82E99-DFA0-4921-9A7E-A58B5157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 Construction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35AA57-6724-488C-ABD9-6074AF654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957"/>
            <a:ext cx="7124272" cy="4571396"/>
          </a:xfrm>
        </p:spPr>
        <p:txBody>
          <a:bodyPr>
            <a:normAutofit/>
          </a:bodyPr>
          <a:lstStyle/>
          <a:p>
            <a:r>
              <a:rPr lang="en-US" altLang="zh-CN" dirty="0"/>
              <a:t>Pre-defined Tasks for Conversations</a:t>
            </a:r>
          </a:p>
          <a:p>
            <a:pPr lvl="1"/>
            <a:r>
              <a:rPr lang="en-US" altLang="zh-CN" dirty="0"/>
              <a:t>Complex and difficult enough</a:t>
            </a:r>
          </a:p>
          <a:p>
            <a:pPr lvl="1"/>
            <a:r>
              <a:rPr lang="en-US" altLang="zh-CN" dirty="0"/>
              <a:t>Relate to the user’s preferences</a:t>
            </a:r>
          </a:p>
          <a:p>
            <a:pPr lvl="1"/>
            <a:r>
              <a:rPr lang="en-US" altLang="zh-CN" dirty="0"/>
              <a:t>Pre-defined 4 tasks:</a:t>
            </a:r>
          </a:p>
          <a:p>
            <a:pPr lvl="2"/>
            <a:r>
              <a:rPr lang="en-US" altLang="zh-CN" b="1" dirty="0"/>
              <a:t>Travel planning, skill learning planning, recipe planning, gift preparation</a:t>
            </a:r>
          </a:p>
          <a:p>
            <a:pPr lvl="1"/>
            <a:r>
              <a:rPr lang="en-US" altLang="zh-CN" dirty="0"/>
              <a:t>Construct different scenarios from several aspects</a:t>
            </a:r>
          </a:p>
          <a:p>
            <a:pPr lvl="2"/>
            <a:r>
              <a:rPr lang="en-US" altLang="zh-CN" dirty="0"/>
              <a:t>E.g. the season, travel duration, travel type</a:t>
            </a:r>
          </a:p>
          <a:p>
            <a:pPr lvl="1"/>
            <a:r>
              <a:rPr lang="en-US" altLang="zh-CN" dirty="0"/>
              <a:t>Filling the template with optional categories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420C4B-44C6-B8A4-53BA-EDD229B3A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909" y="1511584"/>
            <a:ext cx="4202130" cy="534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20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8E64A-0D89-4390-BD25-0BAC0DD6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 Construction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C14659-3424-49A5-8106-A627F6800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957"/>
            <a:ext cx="6001512" cy="4571396"/>
          </a:xfrm>
        </p:spPr>
        <p:txBody>
          <a:bodyPr/>
          <a:lstStyle/>
          <a:p>
            <a:r>
              <a:rPr lang="en-US" altLang="zh-CN" dirty="0"/>
              <a:t>User Profile Generation</a:t>
            </a:r>
          </a:p>
          <a:p>
            <a:pPr lvl="1"/>
            <a:r>
              <a:rPr lang="en-US" altLang="zh-CN" dirty="0"/>
              <a:t>Generate in the same conversation</a:t>
            </a:r>
          </a:p>
          <a:p>
            <a:pPr lvl="1"/>
            <a:r>
              <a:rPr lang="en-US" altLang="zh-CN" dirty="0"/>
              <a:t>Generate in terms of several domains</a:t>
            </a:r>
          </a:p>
          <a:p>
            <a:pPr lvl="2"/>
            <a:r>
              <a:rPr lang="en-US" altLang="zh-CN" dirty="0"/>
              <a:t>According to the pre-defined task</a:t>
            </a:r>
          </a:p>
          <a:p>
            <a:pPr lvl="1"/>
            <a:r>
              <a:rPr lang="en-US" altLang="zh-CN" dirty="0"/>
              <a:t>Adopt human-involved example generation</a:t>
            </a:r>
          </a:p>
          <a:p>
            <a:pPr lvl="2"/>
            <a:r>
              <a:rPr lang="en-US" altLang="zh-CN" dirty="0"/>
              <a:t>See the right figure</a:t>
            </a:r>
          </a:p>
          <a:p>
            <a:pPr lvl="2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368DBF-1F15-0A91-84AE-D8CF4873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708" y="1544731"/>
            <a:ext cx="4191153" cy="53132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2775D92-DBC6-4F62-A920-B997B9D3D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824" y="1759247"/>
            <a:ext cx="4379976" cy="46740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5671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AA818-6342-4331-AC63-18AF08A0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 Construction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AF4BAB-5BC0-43EE-B072-00AB6338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5957"/>
            <a:ext cx="5075429" cy="4571396"/>
          </a:xfrm>
        </p:spPr>
        <p:txBody>
          <a:bodyPr>
            <a:normAutofit/>
          </a:bodyPr>
          <a:lstStyle/>
          <a:p>
            <a:r>
              <a:rPr lang="en-US" altLang="zh-CN" dirty="0"/>
              <a:t>Conversation Generation</a:t>
            </a:r>
          </a:p>
          <a:p>
            <a:pPr lvl="1"/>
            <a:r>
              <a:rPr lang="en-US" altLang="zh-CN" dirty="0"/>
              <a:t>Two LLMs to task to each other</a:t>
            </a:r>
          </a:p>
          <a:p>
            <a:pPr lvl="1"/>
            <a:r>
              <a:rPr lang="en-US" altLang="zh-CN" dirty="0"/>
              <a:t>Use system-command-like end prompt to control the length of conversation</a:t>
            </a:r>
          </a:p>
          <a:p>
            <a:pPr lvl="2"/>
            <a:r>
              <a:rPr lang="en-US" altLang="zh-CN" i="1" dirty="0"/>
              <a:t>[System]: If you wish to conclude this conversation, 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0126B3-941F-9C3A-F947-71EA3441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372" y="1540619"/>
            <a:ext cx="5913628" cy="476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CBC7B-A04B-BA52-740C-60FF1B28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 Construction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1D6948-7D52-62D2-9BC5-6F0634AA5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Filtering</a:t>
            </a:r>
          </a:p>
          <a:p>
            <a:pPr lvl="1"/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LLMs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</a:t>
            </a:r>
            <a:r>
              <a:rPr kumimoji="1" lang="zh-CN" altLang="en-US" dirty="0"/>
              <a:t> </a:t>
            </a:r>
            <a:r>
              <a:rPr kumimoji="1" lang="en-US" altLang="zh-CN" dirty="0"/>
              <a:t>detect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conflicts</a:t>
            </a:r>
            <a:r>
              <a:rPr kumimoji="1" lang="zh-CN" altLang="en-US" dirty="0"/>
              <a:t> </a:t>
            </a:r>
            <a:r>
              <a:rPr kumimoji="1" lang="en-US" altLang="zh-CN" dirty="0"/>
              <a:t>between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preferences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descriptions</a:t>
            </a:r>
          </a:p>
          <a:p>
            <a:pPr lvl="1"/>
            <a:r>
              <a:rPr kumimoji="1" lang="en-US" altLang="zh-CN" dirty="0"/>
              <a:t>Manually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label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obvious</a:t>
            </a:r>
            <a:r>
              <a:rPr kumimoji="1" lang="zh-CN" altLang="en-US" dirty="0"/>
              <a:t> </a:t>
            </a:r>
            <a:r>
              <a:rPr kumimoji="1" lang="en-US" altLang="zh-CN" dirty="0"/>
              <a:t>hallucinations</a:t>
            </a:r>
          </a:p>
          <a:p>
            <a:r>
              <a:rPr kumimoji="1" lang="en-US" altLang="zh-CN" dirty="0"/>
              <a:t>Processing</a:t>
            </a:r>
          </a:p>
          <a:p>
            <a:pPr lvl="1"/>
            <a:r>
              <a:rPr kumimoji="1" lang="en-US" altLang="zh-CN" dirty="0"/>
              <a:t>Translate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Chinese</a:t>
            </a:r>
            <a:r>
              <a:rPr kumimoji="1" lang="zh-CN" altLang="en-US" dirty="0"/>
              <a:t> </a:t>
            </a:r>
            <a:r>
              <a:rPr kumimoji="1" lang="en-US" altLang="zh-CN" dirty="0"/>
              <a:t>via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ChatGPT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491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86676-B2B2-BB1C-B559-C50317D30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 Construction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1A6EE8-9813-792D-6E18-927C372F1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Manual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Labeling</a:t>
            </a:r>
          </a:p>
          <a:p>
            <a:pPr lvl="1"/>
            <a:r>
              <a:rPr kumimoji="1" lang="en-US" altLang="zh-CN" dirty="0"/>
              <a:t>Simulator: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Intent</a:t>
            </a:r>
          </a:p>
          <a:p>
            <a:pPr lvl="2"/>
            <a:r>
              <a:rPr kumimoji="1" lang="en-US" altLang="zh-CN" dirty="0"/>
              <a:t>Preference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Consistency</a:t>
            </a:r>
          </a:p>
          <a:p>
            <a:pPr lvl="2"/>
            <a:r>
              <a:rPr kumimoji="1" lang="en-US" altLang="zh-CN" dirty="0"/>
              <a:t>Additional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Preference</a:t>
            </a:r>
          </a:p>
          <a:p>
            <a:pPr lvl="2"/>
            <a:r>
              <a:rPr kumimoji="1" lang="en-US" altLang="zh-CN" dirty="0"/>
              <a:t>Role-playing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Completeness</a:t>
            </a:r>
          </a:p>
          <a:p>
            <a:pPr lvl="1"/>
            <a:r>
              <a:rPr kumimoji="1" lang="en-US" altLang="zh-CN" dirty="0"/>
              <a:t>Assistant:</a:t>
            </a:r>
            <a:r>
              <a:rPr kumimoji="1" lang="zh-CN" altLang="en-US" dirty="0"/>
              <a:t> </a:t>
            </a:r>
            <a:r>
              <a:rPr kumimoji="1" lang="en-US" altLang="zh-CN" dirty="0"/>
              <a:t>Hallucinations</a:t>
            </a:r>
          </a:p>
          <a:p>
            <a:pPr lvl="2"/>
            <a:r>
              <a:rPr kumimoji="1" lang="en-US" altLang="zh-CN" dirty="0"/>
              <a:t>Memorization</a:t>
            </a:r>
          </a:p>
          <a:p>
            <a:pPr lvl="2"/>
            <a:r>
              <a:rPr kumimoji="1" lang="en-US" altLang="zh-CN" dirty="0"/>
              <a:t>Detail</a:t>
            </a:r>
          </a:p>
          <a:p>
            <a:pPr lvl="2"/>
            <a:r>
              <a:rPr kumimoji="1" lang="en-US" altLang="zh-CN" dirty="0"/>
              <a:t>Practical</a:t>
            </a:r>
            <a:r>
              <a:rPr kumimoji="1" lang="zh-CN" altLang="en-US" dirty="0"/>
              <a:t> </a:t>
            </a:r>
            <a:r>
              <a:rPr kumimoji="1" lang="en" altLang="zh-CN" dirty="0"/>
              <a:t>Usability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Diversity</a:t>
            </a:r>
          </a:p>
          <a:p>
            <a:pPr lvl="2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C715CB-4C57-C676-905E-01788E4EA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758" y="1635957"/>
            <a:ext cx="3296042" cy="457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53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6C23B-893F-47F3-823B-E0743D063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Overall Characteristics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35AD32C-9B60-564F-6158-1D6D9BB8F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897" y="2401187"/>
            <a:ext cx="9044206" cy="257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79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8CF1D-6AC1-4542-8FB2-AE457C12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 Profiles Distributions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272D425-2CDA-CDAE-A49E-6DBF3295A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124" y="1698056"/>
            <a:ext cx="8847751" cy="44872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7D6ACA-5A00-8E56-997C-7977A68F79D3}"/>
              </a:ext>
            </a:extLst>
          </p:cNvPr>
          <p:cNvSpPr txBox="1"/>
          <p:nvPr/>
        </p:nvSpPr>
        <p:spPr>
          <a:xfrm>
            <a:off x="10479639" y="2459016"/>
            <a:ext cx="1712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/>
              <a:t>Recipe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Planning</a:t>
            </a:r>
            <a:endParaRPr kumimoji="1" lang="zh-CN" altLang="en-US" sz="24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F5CAE0-001E-3C61-FD56-0AFFFD95A8AB}"/>
              </a:ext>
            </a:extLst>
          </p:cNvPr>
          <p:cNvSpPr txBox="1"/>
          <p:nvPr/>
        </p:nvSpPr>
        <p:spPr>
          <a:xfrm>
            <a:off x="10499757" y="4744445"/>
            <a:ext cx="1712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/>
              <a:t>Skills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Learning</a:t>
            </a:r>
            <a:endParaRPr kumimoji="1" lang="zh-CN" altLang="en-US" sz="2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56E914-541D-FF95-82D1-99C02FC1768B}"/>
              </a:ext>
            </a:extLst>
          </p:cNvPr>
          <p:cNvSpPr txBox="1"/>
          <p:nvPr/>
        </p:nvSpPr>
        <p:spPr>
          <a:xfrm>
            <a:off x="0" y="2266661"/>
            <a:ext cx="1712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/>
              <a:t>Travel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Planning</a:t>
            </a:r>
            <a:endParaRPr kumimoji="1" lang="zh-CN" altLang="en-US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FDD563-8AC6-257C-A4AB-ED1551882C3B}"/>
              </a:ext>
            </a:extLst>
          </p:cNvPr>
          <p:cNvSpPr txBox="1"/>
          <p:nvPr/>
        </p:nvSpPr>
        <p:spPr>
          <a:xfrm>
            <a:off x="-17981" y="4744444"/>
            <a:ext cx="1712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/>
              <a:t>Preparing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Gifts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878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6ED59-7BC8-21C5-18CA-C0FBC0D7A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User Profiles Distributions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2A9934C-0772-5482-E669-A8B8F74D7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588" y="1561458"/>
            <a:ext cx="9140824" cy="4570412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E70AE9-651B-2230-BC67-8024352D3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588" y="1561458"/>
            <a:ext cx="9140824" cy="45704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F27656E-BB9C-3869-687B-DB7E6DE0D485}"/>
              </a:ext>
            </a:extLst>
          </p:cNvPr>
          <p:cNvSpPr txBox="1"/>
          <p:nvPr/>
        </p:nvSpPr>
        <p:spPr>
          <a:xfrm>
            <a:off x="3851097" y="5901037"/>
            <a:ext cx="4489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/>
              <a:t>Travel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Planning</a:t>
            </a:r>
            <a:endParaRPr kumimoji="1" lang="zh-CN" altLang="en-US" sz="2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475E83-4B85-C90F-6525-C60A4805BA1C}"/>
              </a:ext>
            </a:extLst>
          </p:cNvPr>
          <p:cNvSpPr txBox="1"/>
          <p:nvPr/>
        </p:nvSpPr>
        <p:spPr>
          <a:xfrm>
            <a:off x="3851097" y="5907109"/>
            <a:ext cx="4489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/>
              <a:t>Recipe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Planning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9615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6AA79-0B67-4017-8A5B-6486338CD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 Characteristics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D7058-D108-42CC-AE28-B26E15BE7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Validation of Task Completeness</a:t>
            </a:r>
          </a:p>
          <a:p>
            <a:pPr lvl="1"/>
            <a:r>
              <a:rPr lang="en-US" altLang="zh-CN" dirty="0"/>
              <a:t>Being annotated by a crowdsourcing company...</a:t>
            </a:r>
          </a:p>
        </p:txBody>
      </p:sp>
    </p:spTree>
    <p:extLst>
      <p:ext uri="{BB962C8B-B14F-4D97-AF65-F5344CB8AC3E}">
        <p14:creationId xmlns:p14="http://schemas.microsoft.com/office/powerpoint/2010/main" val="2865186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EB78F-8824-4FDD-BC21-7F9F0808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5DD2A-9A1E-4F83-8DE9-2012CAA4E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+mj-lt"/>
              </a:rPr>
              <a:t>Assistant Response</a:t>
            </a:r>
          </a:p>
          <a:p>
            <a:pPr lvl="1"/>
            <a:r>
              <a:rPr lang="en-US" altLang="zh-CN" b="1" dirty="0">
                <a:latin typeface="+mj-lt"/>
              </a:rPr>
              <a:t>Assistant</a:t>
            </a:r>
            <a:r>
              <a:rPr lang="en-US" altLang="zh-CN" dirty="0">
                <a:latin typeface="+mj-lt"/>
              </a:rPr>
              <a:t>: …</a:t>
            </a:r>
            <a:r>
              <a:rPr lang="en-US" altLang="zh-CN" i="1" dirty="0">
                <a:latin typeface="+mj-lt"/>
              </a:rPr>
              <a:t>Based on your preferences and the available options, here are two potential flights:</a:t>
            </a:r>
          </a:p>
          <a:p>
            <a:pPr lvl="1"/>
            <a:r>
              <a:rPr lang="en-US" altLang="zh-CN" i="1" dirty="0">
                <a:latin typeface="+mj-lt"/>
              </a:rPr>
              <a:t>1. United Airlines: Departure from San Francisco (SFO) with a layover in Beijing (PEK) - Total travel time: 19h 20m. The layover in Beijing is 2h 20m.</a:t>
            </a:r>
          </a:p>
          <a:p>
            <a:pPr lvl="1"/>
            <a:r>
              <a:rPr lang="en-US" altLang="zh-CN" i="1" dirty="0">
                <a:latin typeface="+mj-lt"/>
              </a:rPr>
              <a:t>2. Air China: Departure from San Francisco (SFO) with a layover in Shanghai (PVG) - Total travel time: 20h 40m. The layover in Shanghai is 3h 10m.</a:t>
            </a:r>
          </a:p>
          <a:p>
            <a:pPr lvl="1"/>
            <a:r>
              <a:rPr lang="en-US" altLang="zh-CN" i="1" dirty="0">
                <a:latin typeface="+mj-lt"/>
              </a:rPr>
              <a:t>Both options offer a relatively short layover and provide a balance between travel time and comfort…</a:t>
            </a:r>
            <a:endParaRPr lang="zh-CN" altLang="en-US" b="1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28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1E860-1359-4E75-AF80-52522B8D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Potential Usage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ED89C-5083-4B1C-B7D0-8BD62245B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Conversational Search &amp; Recommendation</a:t>
            </a:r>
          </a:p>
          <a:p>
            <a:pPr lvl="1"/>
            <a:r>
              <a:rPr lang="en-US" altLang="zh-CN" dirty="0"/>
              <a:t>Contain retrieval requests and active recommendations,</a:t>
            </a:r>
            <a:r>
              <a:rPr lang="zh-CN" altLang="en-US" dirty="0"/>
              <a:t> </a:t>
            </a:r>
            <a:r>
              <a:rPr lang="en-US" altLang="zh-CN" dirty="0"/>
              <a:t>annotated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intent</a:t>
            </a:r>
          </a:p>
          <a:p>
            <a:pPr lvl="1"/>
            <a:r>
              <a:rPr lang="en-US" altLang="zh-CN" dirty="0"/>
              <a:t>Could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train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strategy</a:t>
            </a:r>
            <a:r>
              <a:rPr lang="zh-CN" altLang="en-US" dirty="0"/>
              <a:t> </a:t>
            </a:r>
            <a:r>
              <a:rPr lang="en-US" altLang="zh-CN" dirty="0"/>
              <a:t>module</a:t>
            </a:r>
          </a:p>
          <a:p>
            <a:r>
              <a:rPr lang="en-US" altLang="zh-CN" dirty="0"/>
              <a:t>LLM-based Personalized Recommendation</a:t>
            </a:r>
          </a:p>
          <a:p>
            <a:r>
              <a:rPr lang="en-US" altLang="zh-CN" dirty="0"/>
              <a:t>Hallucination Detection</a:t>
            </a:r>
          </a:p>
          <a:p>
            <a:pPr lvl="1"/>
            <a:r>
              <a:rPr lang="en-US" altLang="zh-CN" dirty="0"/>
              <a:t>Mainly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4003037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52328-3FB9-400B-9566-0AF461E55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 and Future Work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9F17AE-64D4-477D-A268-6CA6376BF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Conclusion</a:t>
            </a:r>
          </a:p>
          <a:p>
            <a:pPr lvl="1"/>
            <a:r>
              <a:rPr lang="en-US" altLang="zh-CN" dirty="0"/>
              <a:t>The first work to generate task-specific conversational recommendation data wholly based on LLMs</a:t>
            </a:r>
          </a:p>
          <a:p>
            <a:pPr lvl="2"/>
            <a:r>
              <a:rPr lang="en-US" altLang="zh-CN" dirty="0"/>
              <a:t>LLMs as both the user simulator and respond assistant</a:t>
            </a:r>
          </a:p>
          <a:p>
            <a:pPr lvl="1"/>
            <a:r>
              <a:rPr lang="en-US" altLang="zh-CN" dirty="0"/>
              <a:t>The dataset can be leveraged into various recommendation tasks</a:t>
            </a:r>
          </a:p>
          <a:p>
            <a:r>
              <a:rPr lang="en-US" altLang="zh-CN" dirty="0"/>
              <a:t>Future Work</a:t>
            </a:r>
          </a:p>
          <a:p>
            <a:pPr lvl="1"/>
            <a:r>
              <a:rPr lang="en-US" altLang="zh-CN" dirty="0"/>
              <a:t>Conversations between real humans and LLMs within the same settings</a:t>
            </a:r>
          </a:p>
          <a:p>
            <a:pPr lvl="1"/>
            <a:r>
              <a:rPr lang="en-US" altLang="zh-CN" dirty="0"/>
              <a:t>Introduce</a:t>
            </a:r>
            <a:r>
              <a:rPr lang="zh-CN" altLang="en-US" dirty="0"/>
              <a:t> </a:t>
            </a:r>
            <a:r>
              <a:rPr lang="en-US" altLang="zh-CN" dirty="0"/>
              <a:t>external</a:t>
            </a:r>
            <a:r>
              <a:rPr lang="zh-CN" altLang="en-US" dirty="0"/>
              <a:t> </a:t>
            </a:r>
            <a:r>
              <a:rPr lang="en-US" altLang="zh-CN" dirty="0"/>
              <a:t>item</a:t>
            </a:r>
            <a:r>
              <a:rPr lang="zh-CN" altLang="en-US" dirty="0"/>
              <a:t> </a:t>
            </a:r>
            <a:r>
              <a:rPr lang="en-US" altLang="zh-CN" dirty="0"/>
              <a:t>list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help</a:t>
            </a:r>
            <a:r>
              <a:rPr lang="zh-CN" altLang="en-US" dirty="0"/>
              <a:t> </a:t>
            </a:r>
            <a:r>
              <a:rPr lang="en-US" altLang="zh-CN" dirty="0"/>
              <a:t>generation</a:t>
            </a:r>
          </a:p>
          <a:p>
            <a:pPr lvl="1"/>
            <a:r>
              <a:rPr lang="en-US" altLang="zh-CN" dirty="0"/>
              <a:t>More scenarios can also be involved</a:t>
            </a:r>
          </a:p>
        </p:txBody>
      </p:sp>
    </p:spTree>
    <p:extLst>
      <p:ext uri="{BB962C8B-B14F-4D97-AF65-F5344CB8AC3E}">
        <p14:creationId xmlns:p14="http://schemas.microsoft.com/office/powerpoint/2010/main" val="4157599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1AC7C-E91D-0288-9540-2B6F035762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Thanks!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6E9A76-4092-A0A1-FACF-2BC8BE114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 i="1" dirty="0"/>
              <a:t>Zhefan Wang</a:t>
            </a:r>
          </a:p>
          <a:p>
            <a:r>
              <a:rPr lang="en-US" altLang="zh-CN" b="1" i="1" dirty="0"/>
              <a:t>wzf23@mails.tsinghua.edu.cn</a:t>
            </a:r>
            <a:endParaRPr lang="zh-CN" altLang="en-US" b="1" i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AF8A78-9B49-A97C-A34B-81C00C44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D2AD8-20DD-1F43-B782-FEE6429B95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26462"/>
      </p:ext>
    </p:extLst>
  </p:cSld>
  <p:clrMapOvr>
    <a:masterClrMapping/>
  </p:clrMapOvr>
</p:sld>
</file>

<file path=ppt/theme/theme1.xml><?xml version="1.0" encoding="utf-8"?>
<a:theme xmlns:a="http://schemas.openxmlformats.org/drawingml/2006/main" name="THUIR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自定义 6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UIR" id="{85CE430E-AF9E-4EE5-B558-D32304AEEA59}" vid="{D4B1CA04-1F70-4B94-8E95-D73A3286EA3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THUIR</Template>
  <TotalTime>1200</TotalTime>
  <Words>579</Words>
  <Application>Microsoft Macintosh PowerPoint</Application>
  <PresentationFormat>宽屏</PresentationFormat>
  <Paragraphs>106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Wingdings</vt:lpstr>
      <vt:lpstr>THUIR</vt:lpstr>
      <vt:lpstr>RecLLMSim: A Task-based Recommendation Conversation Dataset</vt:lpstr>
      <vt:lpstr>Introduction</vt:lpstr>
      <vt:lpstr>Introduction</vt:lpstr>
      <vt:lpstr>Related Work: Synthetic Data Generation via LLMs</vt:lpstr>
      <vt:lpstr>Related Work: LLMs for CRS</vt:lpstr>
      <vt:lpstr>Dataset Construction</vt:lpstr>
      <vt:lpstr>Dataset Construction</vt:lpstr>
      <vt:lpstr>Dataset Construction</vt:lpstr>
      <vt:lpstr>Dataset Construction</vt:lpstr>
      <vt:lpstr>Dataset Construction</vt:lpstr>
      <vt:lpstr>Dataset Construction</vt:lpstr>
      <vt:lpstr>Overall Characteristics</vt:lpstr>
      <vt:lpstr>User Profiles Distributions</vt:lpstr>
      <vt:lpstr>User Profiles Distributions</vt:lpstr>
      <vt:lpstr>Dataset Characteristics</vt:lpstr>
      <vt:lpstr>Case Study</vt:lpstr>
      <vt:lpstr>Potential Usage</vt:lpstr>
      <vt:lpstr>Conclusion and Future Work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哲凡 王</dc:creator>
  <cp:lastModifiedBy>哲凡 王</cp:lastModifiedBy>
  <cp:revision>265</cp:revision>
  <dcterms:created xsi:type="dcterms:W3CDTF">2023-11-05T07:53:20Z</dcterms:created>
  <dcterms:modified xsi:type="dcterms:W3CDTF">2024-05-21T02:07:49Z</dcterms:modified>
</cp:coreProperties>
</file>