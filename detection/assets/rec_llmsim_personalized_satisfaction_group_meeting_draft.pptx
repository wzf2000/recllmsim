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9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21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24" Type="http://schemas.openxmlformats.org/officeDocument/2006/relationships/tableStyles" Target="tableStyles.xml" /><ns0:Relationship Id="rId23" Type="http://schemas.openxmlformats.org/officeDocument/2006/relationships/theme" Target="theme/theme1.xml" /><ns0:Relationship Id="rId22" Type="http://schemas.openxmlformats.org/officeDocument/2006/relationships/viewProps" Target="viewProps.xml" /><ns0:Relationship Id="rIdSlide1" Type="http://schemas.openxmlformats.org/officeDocument/2006/relationships/slide" Target="slides/slide1.xml" /><ns0:Relationship Id="rIdSlide2" Type="http://schemas.openxmlformats.org/officeDocument/2006/relationships/slide" Target="slides/slide2.xml" /><ns0:Relationship Id="rIdSlide3" Type="http://schemas.openxmlformats.org/officeDocument/2006/relationships/slide" Target="slides/slide3.xml" /><ns0:Relationship Id="rIdSlide4" Type="http://schemas.openxmlformats.org/officeDocument/2006/relationships/slide" Target="slides/slide4.xml" /><ns0:Relationship Id="rIdSlide5" Type="http://schemas.openxmlformats.org/officeDocument/2006/relationships/slide" Target="slides/slide5.xml" /><ns0:Relationship Id="rIdSlide6" Type="http://schemas.openxmlformats.org/officeDocument/2006/relationships/slide" Target="slides/slide6.xml" /><ns0:Relationship Id="rIdSlide7" Type="http://schemas.openxmlformats.org/officeDocument/2006/relationships/slide" Target="slides/slide7.xml" /><ns0:Relationship Id="rIdSlide8" Type="http://schemas.openxmlformats.org/officeDocument/2006/relationships/slide" Target="slides/slide8.xml" /><ns0:Relationship Id="rIdSlide9" Type="http://schemas.openxmlformats.org/officeDocument/2006/relationships/slide" Target="slides/slide9.xml" /><ns0:Relationship Id="rIdSlide10" Type="http://schemas.openxmlformats.org/officeDocument/2006/relationships/slide" Target="slides/slide10.xml" /><ns0:Relationship Id="rIdSlide11" Type="http://schemas.openxmlformats.org/officeDocument/2006/relationships/slide" Target="slides/slide11.xml" /><ns0:Relationship Id="rIdSlide12" Type="http://schemas.openxmlformats.org/officeDocument/2006/relationships/slide" Target="slides/slide12.xml" /><ns0:Relationship Id="rIdSlide13" Type="http://schemas.openxmlformats.org/officeDocument/2006/relationships/slide" Target="slides/slide13.xml" /><ns0:Relationship Id="rIdSlide14" Type="http://schemas.openxmlformats.org/officeDocument/2006/relationships/slide" Target="slides/slide14.xml" /><ns0:Relationship Id="rIdSlide15" Type="http://schemas.openxmlformats.org/officeDocument/2006/relationships/slide" Target="slides/slide15.xml" /></ns0: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46365"/>
            <a:ext cx="9144000" cy="2341070"/>
          </a:xfrm>
          <a:prstGeom prst="rect">
            <a:avLst/>
          </a:prstGeom>
        </p:spPr>
        <p:txBody>
          <a:bodyPr anchor="ctr"/>
          <a:lstStyle>
            <a:lvl1pPr algn="ctr">
              <a:defRPr sz="60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638444"/>
            <a:ext cx="9144000" cy="892344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0AABBC-6ACC-8538-DF9B-F1A235A0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761" y="275300"/>
            <a:ext cx="1346200" cy="1320800"/>
          </a:xfrm>
          <a:prstGeom prst="rect">
            <a:avLst/>
          </a:prstGeom>
        </p:spPr>
      </p:pic>
      <p:pic>
        <p:nvPicPr>
          <p:cNvPr id="8" name="图片 3">
            <a:extLst>
              <a:ext uri="{FF2B5EF4-FFF2-40B4-BE49-F238E27FC236}">
                <a16:creationId xmlns:a16="http://schemas.microsoft.com/office/drawing/2014/main" id="{09DA16EF-71CC-45EB-8053-E334322717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61" y="220575"/>
            <a:ext cx="1182106" cy="119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36">
            <a:extLst>
              <a:ext uri="{FF2B5EF4-FFF2-40B4-BE49-F238E27FC236}">
                <a16:creationId xmlns:a16="http://schemas.microsoft.com/office/drawing/2014/main" id="{5B4AF0A7-DAFF-968C-2A7F-9D387FEDA53F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107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360000">
              <a:buFont typeface="Wingdings" panose="05000000000000000000" pitchFamily="2" charset="2"/>
              <a:buChar char="n"/>
              <a:defRPr b="1" baseline="0">
                <a:solidFill>
                  <a:srgbClr val="6C4B9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236">
            <a:extLst>
              <a:ext uri="{FF2B5EF4-FFF2-40B4-BE49-F238E27FC236}">
                <a16:creationId xmlns:a16="http://schemas.microsoft.com/office/drawing/2014/main" id="{534593BC-5833-373F-8DEE-4833B4C11259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5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637133-83FE-D4BD-36AC-4B79E41CF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761" y="275300"/>
            <a:ext cx="1346200" cy="1320800"/>
          </a:xfrm>
          <a:prstGeom prst="rect">
            <a:avLst/>
          </a:prstGeom>
        </p:spPr>
      </p:pic>
      <p:pic>
        <p:nvPicPr>
          <p:cNvPr id="9" name="图片 3">
            <a:extLst>
              <a:ext uri="{FF2B5EF4-FFF2-40B4-BE49-F238E27FC236}">
                <a16:creationId xmlns:a16="http://schemas.microsoft.com/office/drawing/2014/main" id="{B0CC1B53-3A89-BC46-8B49-D9BE9CC330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61" y="220575"/>
            <a:ext cx="1182106" cy="119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36">
            <a:extLst>
              <a:ext uri="{FF2B5EF4-FFF2-40B4-BE49-F238E27FC236}">
                <a16:creationId xmlns:a16="http://schemas.microsoft.com/office/drawing/2014/main" id="{50AAF004-DC35-CC00-B63B-4D3063D8E550}"/>
              </a:ext>
            </a:extLst>
          </p:cNvPr>
          <p:cNvSpPr/>
          <p:nvPr/>
        </p:nvSpPr>
        <p:spPr>
          <a:xfrm>
            <a:off x="844550" y="375278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27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51247"/>
            <a:ext cx="5181600" cy="4525716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n"/>
              <a:defRPr b="1">
                <a:solidFill>
                  <a:srgbClr val="6C4B90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51247"/>
            <a:ext cx="5181600" cy="45257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A89DB1-E125-D432-1C9D-A262F9DB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Rectangle 236">
            <a:extLst>
              <a:ext uri="{FF2B5EF4-FFF2-40B4-BE49-F238E27FC236}">
                <a16:creationId xmlns:a16="http://schemas.microsoft.com/office/drawing/2014/main" id="{1A4F82DD-BFB9-F67A-A8A8-EDF902196617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350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A48FC7-8786-4DCB-EF64-B6CBA776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Rectangle 236">
            <a:extLst>
              <a:ext uri="{FF2B5EF4-FFF2-40B4-BE49-F238E27FC236}">
                <a16:creationId xmlns:a16="http://schemas.microsoft.com/office/drawing/2014/main" id="{2D9475E0-FABC-F138-4DFD-F78B1ECC83A6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53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C9CB96-8E6E-C9B1-A54F-4E000875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Rectangle 236">
            <a:extLst>
              <a:ext uri="{FF2B5EF4-FFF2-40B4-BE49-F238E27FC236}">
                <a16:creationId xmlns:a16="http://schemas.microsoft.com/office/drawing/2014/main" id="{95071564-05BB-E42B-83C8-327F73FFD678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541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236">
            <a:extLst>
              <a:ext uri="{FF2B5EF4-FFF2-40B4-BE49-F238E27FC236}">
                <a16:creationId xmlns:a16="http://schemas.microsoft.com/office/drawing/2014/main" id="{35CB1EFB-8632-981D-A9BC-AD7685551FE5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75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624614"/>
            <a:ext cx="6172200" cy="39503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2" y="1624614"/>
            <a:ext cx="3932237" cy="395031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C03D65-76ED-9F4C-AE20-843AC919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Rectangle 236">
            <a:extLst>
              <a:ext uri="{FF2B5EF4-FFF2-40B4-BE49-F238E27FC236}">
                <a16:creationId xmlns:a16="http://schemas.microsoft.com/office/drawing/2014/main" id="{856E2DFD-5592-47B1-13E4-6D0A0E5C2CDB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65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600" y="1649535"/>
            <a:ext cx="6172200" cy="392539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DBC7B2-825E-4B0B-0964-E46495110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236">
            <a:extLst>
              <a:ext uri="{FF2B5EF4-FFF2-40B4-BE49-F238E27FC236}">
                <a16:creationId xmlns:a16="http://schemas.microsoft.com/office/drawing/2014/main" id="{F33CFB80-4654-0422-9571-4792A3DAB739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04CA196-B9F4-A314-C752-B3F5B618B94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144" y="1649535"/>
            <a:ext cx="4114800" cy="392539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4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A6BCF1-5ABF-7224-8689-C3371B6A0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Rectangle 236">
            <a:extLst>
              <a:ext uri="{FF2B5EF4-FFF2-40B4-BE49-F238E27FC236}">
                <a16:creationId xmlns:a16="http://schemas.microsoft.com/office/drawing/2014/main" id="{C910E372-F135-95F1-BCCA-4B0DCB654AB0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05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43883"/>
            <a:ext cx="2628900" cy="573307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43883"/>
            <a:ext cx="7734300" cy="57330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542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10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35957"/>
            <a:ext cx="10515600" cy="4571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8"/>
          <p:cNvPicPr/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6598" y="6264726"/>
            <a:ext cx="4120587" cy="51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8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6C4B90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200" b="1">
                <a:solidFill>
                  <a:srgbClr val="111827"/>
                </a:solidFill>
              </a:rPr>
              <a:t>Personalized Satisfaction Prediction and Static Replay Evaluation</a:t>
            </a:r>
            <a:endParaRPr lang="en-US" sz="320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700000" y="15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2300" b="1">
                <a:solidFill>
                  <a:srgbClr val="2B6CB0"/>
                </a:solidFill>
              </a:rPr>
              <a:t>Progress Update on RecLLMSim</a:t>
            </a:r>
            <a:endParaRPr lang="en-US" sz="2300"/>
          </a:p>
        </p:txBody>
      </p:sp>
      <p:sp>
        <p:nvSpPr>
          <p:cNvPr id="5" name="Bullets 5"/>
          <p:cNvSpPr txBox="1"/>
          <p:nvPr/>
        </p:nvSpPr>
        <p:spPr>
          <a:xfrm>
            <a:off x="2100000" y="2650000"/>
            <a:ext cx="80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750">
                <a:solidFill>
                  <a:srgbClr val="333333"/>
                </a:solidFill>
              </a:rPr>
              <a:t>Real user dialogue data -&gt; personalized turn-level predictor -&gt; static replay benchmark</a:t>
            </a:r>
            <a:endParaRPr lang="en-US" sz="1750"/>
          </a:p>
          <a:p>
            <a:pPr marL="285750" indent="-171450">
              <a:buChar char="•"/>
            </a:pPr>
            <a:r>
              <a:rPr lang="en-US" sz="1750">
                <a:solidFill>
                  <a:srgbClr val="333333"/>
                </a:solidFill>
              </a:rPr>
              <a:t>Group meeting draft deck; figures and tables are editable placeholders</a:t>
            </a:r>
            <a:endParaRPr lang="en-US" sz="1750"/>
          </a:p>
        </p:txBody>
      </p:sp>
      <p:sp>
        <p:nvSpPr>
          <p:cNvPr id="6" name="TextBox 6"/>
          <p:cNvSpPr txBox="1"/>
          <p:nvPr/>
        </p:nvSpPr>
        <p:spPr>
          <a:xfrm>
            <a:off x="2650000" y="4450000"/>
            <a:ext cx="6600000" cy="950000"/>
          </a:xfrm>
          <a:prstGeom prst="rect">
            <a:avLst/>
          </a:prstGeom>
          <a:solidFill>
            <a:srgbClr val="EEF4FF"/>
          </a:solidFill>
          <a:ln w="12700">
            <a:solidFill>
              <a:srgbClr val="AFC6E9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2050" b="1">
                <a:solidFill>
                  <a:srgbClr val="222222"/>
                </a:solidFill>
              </a:rPr>
              <a:t>Data  -&gt;  Predictor  -&gt;  Replay Benchmark</a:t>
            </a:r>
            <a:endParaRPr lang="en-US" sz="2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Motivation: Satisfaction Is User-Specific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650000" y="1200000"/>
            <a:ext cx="520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600">
                <a:solidFill>
                  <a:srgbClr val="333333"/>
                </a:solidFill>
              </a:rPr>
              <a:t>Generic response quality is not enough for task-oriented assistants.</a:t>
            </a:r>
            <a:endParaRPr lang="en-US" sz="1600"/>
          </a:p>
          <a:p>
            <a:pPr marL="285750" indent="-171450">
              <a:buChar char="•"/>
            </a:pPr>
            <a:r>
              <a:rPr lang="en-US" sz="1600">
                <a:solidFill>
                  <a:srgbClr val="333333"/>
                </a:solidFill>
              </a:rPr>
              <a:t>The same response can be acceptable for one user but insufficient for another.</a:t>
            </a:r>
            <a:endParaRPr lang="en-US" sz="1600"/>
          </a:p>
          <a:p>
            <a:pPr marL="285750" indent="-171450">
              <a:buChar char="•"/>
            </a:pPr>
            <a:r>
              <a:rPr lang="en-US" sz="1600">
                <a:solidFill>
                  <a:srgbClr val="333333"/>
                </a:solidFill>
              </a:rPr>
              <a:t>Turn-level satisfaction captures local failures inside multi-turn conversations.</a:t>
            </a:r>
            <a:endParaRPr lang="en-US" sz="1600"/>
          </a:p>
        </p:txBody>
      </p:sp>
      <p:sp>
        <p:nvSpPr>
          <p:cNvPr id="5" name="TextBox 5"/>
          <p:cNvSpPr txBox="1"/>
          <p:nvPr/>
        </p:nvSpPr>
        <p:spPr>
          <a:xfrm>
            <a:off x="6700000" y="1350000"/>
            <a:ext cx="3800000" cy="11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650" b="1">
                <a:solidFill>
                  <a:srgbClr val="222222"/>
                </a:solidFill>
              </a:rPr>
              <a:t>User A</a:t>
            </a:r>
            <a:endParaRPr lang="en-US" sz="1650"/>
          </a:p>
          <a:p>
            <a:pPr algn="ctr"/>
            <a:r>
              <a:rPr lang="en-US" sz="1650" b="1">
                <a:solidFill>
                  <a:srgbClr val="222222"/>
                </a:solidFill>
              </a:rPr>
              <a:t>Prefers concise answers</a:t>
            </a:r>
            <a:endParaRPr lang="en-US" sz="1650"/>
          </a:p>
          <a:p>
            <a:pPr algn="ctr"/>
            <a:r>
              <a:rPr lang="en-US" sz="1650" b="1">
                <a:solidFill>
                  <a:srgbClr val="222222"/>
                </a:solidFill>
              </a:rPr>
              <a:t>Satisfied: 5</a:t>
            </a:r>
            <a:endParaRPr lang="en-US" sz="1650"/>
          </a:p>
        </p:txBody>
      </p:sp>
      <p:sp>
        <p:nvSpPr>
          <p:cNvPr id="6" name="TextBox 6"/>
          <p:cNvSpPr txBox="1"/>
          <p:nvPr/>
        </p:nvSpPr>
        <p:spPr>
          <a:xfrm>
            <a:off x="6700000" y="2950000"/>
            <a:ext cx="3800000" cy="11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650" b="1">
                <a:solidFill>
                  <a:srgbClr val="222222"/>
                </a:solidFill>
              </a:rPr>
              <a:t>User B</a:t>
            </a:r>
            <a:endParaRPr lang="en-US" sz="1650"/>
          </a:p>
          <a:p>
            <a:pPr algn="ctr"/>
            <a:r>
              <a:rPr lang="en-US" sz="1650" b="1">
                <a:solidFill>
                  <a:srgbClr val="222222"/>
                </a:solidFill>
              </a:rPr>
              <a:t>Expects detailed plans</a:t>
            </a:r>
            <a:endParaRPr lang="en-US" sz="1650"/>
          </a:p>
          <a:p>
            <a:pPr algn="ctr"/>
            <a:r>
              <a:rPr lang="en-US" sz="1650" b="1">
                <a:solidFill>
                  <a:srgbClr val="222222"/>
                </a:solidFill>
              </a:rPr>
              <a:t>Dissatisfied: 3</a:t>
            </a:r>
            <a:endParaRPr lang="en-US" sz="16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Overall Framework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420000" y="1250000"/>
            <a:ext cx="2600000" cy="390000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550" b="1">
                <a:solidFill>
                  <a:srgbClr val="222222"/>
                </a:solidFill>
              </a:rPr>
              <a:t>Real User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Dialogue Data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/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Scenario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Profile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Dialogue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Labels</a:t>
            </a:r>
            <a:endParaRPr lang="en-US" sz="1550"/>
          </a:p>
        </p:txBody>
      </p:sp>
      <p:cxnSp>
        <p:nvCxnSpPr>
          <p:cNvPr id="5" name="Arrow 5"/>
          <p:cNvCxnSpPr/>
          <p:nvPr/>
        </p:nvCxnSpPr>
        <p:spPr>
          <a:xfrm>
            <a:off x="3020000" y="3200000"/>
            <a:ext cx="3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6"/>
          <p:cNvSpPr txBox="1"/>
          <p:nvPr/>
        </p:nvSpPr>
        <p:spPr>
          <a:xfrm>
            <a:off x="3320000" y="1250000"/>
            <a:ext cx="2600000" cy="3900000"/>
          </a:xfrm>
          <a:prstGeom prst="rect">
            <a:avLst/>
          </a:prstGeom>
          <a:solidFill>
            <a:srgbClr val="E6FFFA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550" b="1">
                <a:solidFill>
                  <a:srgbClr val="222222"/>
                </a:solidFill>
              </a:rPr>
              <a:t>Prediction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Task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/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History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Profile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Context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Response</a:t>
            </a:r>
            <a:endParaRPr lang="en-US" sz="1550"/>
          </a:p>
        </p:txBody>
      </p:sp>
      <p:cxnSp>
        <p:nvCxnSpPr>
          <p:cNvPr id="7" name="Arrow 7"/>
          <p:cNvCxnSpPr/>
          <p:nvPr/>
        </p:nvCxnSpPr>
        <p:spPr>
          <a:xfrm>
            <a:off x="5920000" y="3200000"/>
            <a:ext cx="3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8"/>
          <p:cNvSpPr txBox="1"/>
          <p:nvPr/>
        </p:nvSpPr>
        <p:spPr>
          <a:xfrm>
            <a:off x="6220000" y="1250000"/>
            <a:ext cx="2600000" cy="3900000"/>
          </a:xfrm>
          <a:prstGeom prst="rect">
            <a:avLst/>
          </a:prstGeom>
          <a:solidFill>
            <a:srgbClr val="FFF3E5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550" b="1">
                <a:solidFill>
                  <a:srgbClr val="222222"/>
                </a:solidFill>
              </a:rPr>
              <a:t>User-Specific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Predictor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/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Memory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Scoring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Calibration</a:t>
            </a:r>
            <a:endParaRPr lang="en-US" sz="1550"/>
          </a:p>
        </p:txBody>
      </p:sp>
      <p:cxnSp>
        <p:nvCxnSpPr>
          <p:cNvPr id="9" name="Arrow 9"/>
          <p:cNvCxnSpPr/>
          <p:nvPr/>
        </p:nvCxnSpPr>
        <p:spPr>
          <a:xfrm>
            <a:off x="8820000" y="3200000"/>
            <a:ext cx="3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0"/>
          <p:cNvSpPr txBox="1"/>
          <p:nvPr/>
        </p:nvSpPr>
        <p:spPr>
          <a:xfrm>
            <a:off x="9120000" y="1250000"/>
            <a:ext cx="2600000" cy="390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550" b="1">
                <a:solidFill>
                  <a:srgbClr val="222222"/>
                </a:solidFill>
              </a:rPr>
              <a:t>Static Replay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Benchmark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/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Replay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Candidate LLMs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Frozen Judge</a:t>
            </a:r>
            <a:endParaRPr lang="en-US" sz="1550"/>
          </a:p>
          <a:p>
            <a:pPr algn="ctr"/>
            <a:r>
              <a:rPr lang="en-US" sz="1550" b="1">
                <a:solidFill>
                  <a:srgbClr val="222222"/>
                </a:solidFill>
              </a:rPr>
              <a:t>Metrics</a:t>
            </a:r>
            <a:endParaRPr lang="en-US" sz="15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Data Collection Protocol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200000"/>
            <a:ext cx="470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Four task families: travel planning, gift preparation, recipe planning, skill learning planning.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Each user provides profile information and completes multi-turn task-oriented dialogues.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Each assistant turn receives a 1-5 satisfaction label; low-score turns include dissatisfaction reasons.</a:t>
            </a:r>
            <a:endParaRPr lang="en-US" sz="1450"/>
          </a:p>
        </p:txBody>
      </p:sp>
      <p:sp>
        <p:nvSpPr>
          <p:cNvPr id="5" name="TextBox 5"/>
          <p:cNvSpPr txBox="1"/>
          <p:nvPr/>
        </p:nvSpPr>
        <p:spPr>
          <a:xfrm>
            <a:off x="56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Scenario / Task</a:t>
            </a:r>
            <a:endParaRPr lang="en-US" sz="1350"/>
          </a:p>
        </p:txBody>
      </p:sp>
      <p:cxnSp>
        <p:nvCxnSpPr>
          <p:cNvPr id="6" name="Arrow 6"/>
          <p:cNvCxnSpPr/>
          <p:nvPr/>
        </p:nvCxnSpPr>
        <p:spPr>
          <a:xfrm>
            <a:off x="2860000" y="4525000"/>
            <a:ext cx="5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7"/>
          <p:cNvSpPr txBox="1"/>
          <p:nvPr/>
        </p:nvSpPr>
        <p:spPr>
          <a:xfrm>
            <a:off x="341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User Profile</a:t>
            </a:r>
            <a:endParaRPr lang="en-US" sz="1350"/>
          </a:p>
        </p:txBody>
      </p:sp>
      <p:cxnSp>
        <p:nvCxnSpPr>
          <p:cNvPr id="8" name="Arrow 8"/>
          <p:cNvCxnSpPr/>
          <p:nvPr/>
        </p:nvCxnSpPr>
        <p:spPr>
          <a:xfrm>
            <a:off x="5710000" y="4525000"/>
            <a:ext cx="5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9"/>
          <p:cNvSpPr txBox="1"/>
          <p:nvPr/>
        </p:nvSpPr>
        <p:spPr>
          <a:xfrm>
            <a:off x="626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Multi-turn Dialogue</a:t>
            </a:r>
            <a:endParaRPr lang="en-US" sz="1350"/>
          </a:p>
        </p:txBody>
      </p:sp>
      <p:cxnSp>
        <p:nvCxnSpPr>
          <p:cNvPr id="10" name="Arrow 10"/>
          <p:cNvCxnSpPr/>
          <p:nvPr/>
        </p:nvCxnSpPr>
        <p:spPr>
          <a:xfrm>
            <a:off x="8560000" y="4525000"/>
            <a:ext cx="5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1"/>
          <p:cNvSpPr txBox="1"/>
          <p:nvPr/>
        </p:nvSpPr>
        <p:spPr>
          <a:xfrm>
            <a:off x="911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Turn-level Labels</a:t>
            </a:r>
            <a:endParaRPr lang="en-US"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Cross-Task Personalized Turn-Level Prediction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200000"/>
            <a:ext cx="54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500">
                <a:solidFill>
                  <a:srgbClr val="333333"/>
                </a:solidFill>
              </a:rPr>
              <a:t>For target task t, use the same user's labeled histories from other tasks H(u, not t).</a:t>
            </a:r>
            <a:endParaRPr lang="en-US" sz="1500"/>
          </a:p>
          <a:p>
            <a:pPr marL="285750" indent="-171450">
              <a:buChar char="•"/>
            </a:pPr>
            <a:r>
              <a:rPr lang="en-US" sz="1500">
                <a:solidFill>
                  <a:srgbClr val="333333"/>
                </a:solidFill>
              </a:rPr>
              <a:t>Input: historical labels, user profile, current context, current assistant response.</a:t>
            </a:r>
            <a:endParaRPr lang="en-US" sz="1500"/>
          </a:p>
          <a:p>
            <a:pPr marL="285750" indent="-171450">
              <a:buChar char="•"/>
            </a:pPr>
            <a:r>
              <a:rPr lang="en-US" sz="1500">
                <a:solidFill>
                  <a:srgbClr val="333333"/>
                </a:solidFill>
              </a:rPr>
              <a:t>Output: predicted score 1-5 and optional dissatisfaction reason.</a:t>
            </a:r>
            <a:endParaRPr lang="en-US" sz="1500"/>
          </a:p>
          <a:p>
            <a:pPr marL="285750" indent="-171450">
              <a:buChar char="•"/>
            </a:pPr>
            <a:r>
              <a:rPr lang="en-US" sz="1500">
                <a:solidFill>
                  <a:srgbClr val="333333"/>
                </a:solidFill>
              </a:rPr>
              <a:t>Boundary: 1-3 = dissatisfied, 4-5 = satisfied.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6650000" y="1350000"/>
            <a:ext cx="4300000" cy="850000"/>
          </a:xfrm>
          <a:prstGeom prst="rect">
            <a:avLst/>
          </a:prstGeom>
          <a:solidFill>
            <a:srgbClr val="E6FFFA"/>
          </a:solidFill>
          <a:ln w="12700">
            <a:solidFill>
              <a:srgbClr val="99D6D0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500" b="1">
                <a:solidFill>
                  <a:srgbClr val="222222"/>
                </a:solidFill>
              </a:rPr>
              <a:t>Source-task histories</a:t>
            </a:r>
            <a:endParaRPr lang="en-US" sz="1500"/>
          </a:p>
          <a:p>
            <a:pPr algn="ctr"/>
            <a:r>
              <a:rPr lang="en-US" sz="1500" b="1">
                <a:solidFill>
                  <a:srgbClr val="222222"/>
                </a:solidFill>
              </a:rPr>
              <a:t>H(u, not t)</a:t>
            </a:r>
            <a:endParaRPr lang="en-US" sz="1500"/>
          </a:p>
        </p:txBody>
      </p:sp>
      <p:sp>
        <p:nvSpPr>
          <p:cNvPr id="6" name="TextBox 6"/>
          <p:cNvSpPr txBox="1"/>
          <p:nvPr/>
        </p:nvSpPr>
        <p:spPr>
          <a:xfrm>
            <a:off x="6650000" y="2600000"/>
            <a:ext cx="4300000" cy="850000"/>
          </a:xfrm>
          <a:prstGeom prst="rect">
            <a:avLst/>
          </a:prstGeom>
          <a:solidFill>
            <a:srgbClr val="EEF4FF"/>
          </a:solidFill>
          <a:ln w="12700">
            <a:solidFill>
              <a:srgbClr val="AFC6E9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500" b="1">
                <a:solidFill>
                  <a:srgbClr val="222222"/>
                </a:solidFill>
              </a:rPr>
              <a:t>Target turn</a:t>
            </a:r>
            <a:endParaRPr lang="en-US" sz="1500"/>
          </a:p>
          <a:p>
            <a:pPr algn="ctr"/>
            <a:r>
              <a:rPr lang="en-US" sz="1500" b="1">
                <a:solidFill>
                  <a:srgbClr val="222222"/>
                </a:solidFill>
              </a:rPr>
              <a:t>context + response</a:t>
            </a:r>
            <a:endParaRPr lang="en-US" sz="1500"/>
          </a:p>
        </p:txBody>
      </p:sp>
      <p:cxnSp>
        <p:nvCxnSpPr>
          <p:cNvPr id="7" name="Arrow 7"/>
          <p:cNvCxnSpPr/>
          <p:nvPr/>
        </p:nvCxnSpPr>
        <p:spPr>
          <a:xfrm>
            <a:off x="8800000" y="2200000"/>
            <a:ext cx="0" cy="40000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8"/>
          <p:cNvSpPr txBox="1"/>
          <p:nvPr/>
        </p:nvSpPr>
        <p:spPr>
          <a:xfrm>
            <a:off x="6650000" y="4050000"/>
            <a:ext cx="4300000" cy="800000"/>
          </a:xfrm>
          <a:prstGeom prst="rect">
            <a:avLst/>
          </a:prstGeom>
          <a:solidFill>
            <a:srgbClr val="FFF3E5"/>
          </a:solidFill>
          <a:ln w="12700">
            <a:solidFill>
              <a:srgbClr val="E8B06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500" b="1">
                <a:solidFill>
                  <a:srgbClr val="222222"/>
                </a:solidFill>
              </a:rPr>
              <a:t>Predicted score 1-5</a:t>
            </a:r>
            <a:endParaRPr lang="en-US" sz="1500"/>
          </a:p>
          <a:p>
            <a:pPr algn="ctr"/>
            <a:r>
              <a:rPr lang="en-US" sz="1500" b="1">
                <a:solidFill>
                  <a:srgbClr val="222222"/>
                </a:solidFill>
              </a:rPr>
              <a:t>&lt;=3 DSAT | &gt;=4 SAT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Evaluation Split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200000"/>
            <a:ext cx="450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600">
                <a:solidFill>
                  <a:srgbClr val="333333"/>
                </a:solidFill>
              </a:rPr>
              <a:t>Test users: 90</a:t>
            </a:r>
            <a:endParaRPr lang="en-US" sz="1600"/>
          </a:p>
          <a:p>
            <a:pPr marL="285750" indent="-171450">
              <a:buChar char="•"/>
            </a:pPr>
            <a:r>
              <a:rPr lang="en-US" sz="1600">
                <a:solidFill>
                  <a:srgbClr val="333333"/>
                </a:solidFill>
              </a:rPr>
              <a:t>User-task blocks: 356</a:t>
            </a:r>
            <a:endParaRPr lang="en-US" sz="1600"/>
          </a:p>
          <a:p>
            <a:pPr marL="285750" indent="-171450">
              <a:buChar char="•"/>
            </a:pPr>
            <a:r>
              <a:rPr lang="en-US" sz="1600">
                <a:solidFill>
                  <a:srgbClr val="333333"/>
                </a:solidFill>
              </a:rPr>
              <a:t>Assistant turns: 6474</a:t>
            </a:r>
            <a:endParaRPr lang="en-US" sz="1600"/>
          </a:p>
          <a:p>
            <a:pPr marL="285750" indent="-171450">
              <a:buChar char="•"/>
            </a:pPr>
            <a:r>
              <a:rPr lang="en-US" sz="1600">
                <a:solidFill>
                  <a:srgbClr val="333333"/>
                </a:solidFill>
              </a:rPr>
              <a:t>Cross-task setting prevents using target-task gold labels during prediction.</a:t>
            </a:r>
            <a:endParaRPr lang="en-US" sz="1600"/>
          </a:p>
        </p:txBody>
      </p:sp>
      <p:sp>
        <p:nvSpPr>
          <p:cNvPr id="5" name="TextBox 5"/>
          <p:cNvSpPr txBox="1"/>
          <p:nvPr/>
        </p:nvSpPr>
        <p:spPr>
          <a:xfrm>
            <a:off x="5600000" y="1450000"/>
            <a:ext cx="866666" cy="560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Score</a:t>
            </a:r>
            <a:endParaRPr lang="en-US" sz="1250"/>
          </a:p>
        </p:txBody>
      </p:sp>
      <p:sp>
        <p:nvSpPr>
          <p:cNvPr id="6" name="TextBox 6"/>
          <p:cNvSpPr txBox="1"/>
          <p:nvPr/>
        </p:nvSpPr>
        <p:spPr>
          <a:xfrm>
            <a:off x="6466666" y="1450000"/>
            <a:ext cx="866666" cy="560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1</a:t>
            </a:r>
            <a:endParaRPr lang="en-US" sz="1250"/>
          </a:p>
        </p:txBody>
      </p:sp>
      <p:sp>
        <p:nvSpPr>
          <p:cNvPr id="7" name="TextBox 7"/>
          <p:cNvSpPr txBox="1"/>
          <p:nvPr/>
        </p:nvSpPr>
        <p:spPr>
          <a:xfrm>
            <a:off x="7333332" y="1450000"/>
            <a:ext cx="866666" cy="560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2</a:t>
            </a:r>
            <a:endParaRPr lang="en-US" sz="1250"/>
          </a:p>
        </p:txBody>
      </p:sp>
      <p:sp>
        <p:nvSpPr>
          <p:cNvPr id="8" name="TextBox 8"/>
          <p:cNvSpPr txBox="1"/>
          <p:nvPr/>
        </p:nvSpPr>
        <p:spPr>
          <a:xfrm>
            <a:off x="8199998" y="1450000"/>
            <a:ext cx="866666" cy="560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3</a:t>
            </a:r>
            <a:endParaRPr lang="en-US" sz="1250"/>
          </a:p>
        </p:txBody>
      </p:sp>
      <p:sp>
        <p:nvSpPr>
          <p:cNvPr id="9" name="TextBox 9"/>
          <p:cNvSpPr txBox="1"/>
          <p:nvPr/>
        </p:nvSpPr>
        <p:spPr>
          <a:xfrm>
            <a:off x="9066664" y="1450000"/>
            <a:ext cx="866666" cy="560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4</a:t>
            </a:r>
            <a:endParaRPr lang="en-US" sz="1250"/>
          </a:p>
        </p:txBody>
      </p:sp>
      <p:sp>
        <p:nvSpPr>
          <p:cNvPr id="10" name="TextBox 10"/>
          <p:cNvSpPr txBox="1"/>
          <p:nvPr/>
        </p:nvSpPr>
        <p:spPr>
          <a:xfrm>
            <a:off x="9933330" y="1450000"/>
            <a:ext cx="866666" cy="560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5</a:t>
            </a:r>
            <a:endParaRPr lang="en-US" sz="1250"/>
          </a:p>
        </p:txBody>
      </p:sp>
      <p:sp>
        <p:nvSpPr>
          <p:cNvPr id="11" name="TextBox 11"/>
          <p:cNvSpPr txBox="1"/>
          <p:nvPr/>
        </p:nvSpPr>
        <p:spPr>
          <a:xfrm>
            <a:off x="5600000" y="2010000"/>
            <a:ext cx="8666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Count</a:t>
            </a:r>
            <a:endParaRPr lang="en-US" sz="1250"/>
          </a:p>
        </p:txBody>
      </p:sp>
      <p:sp>
        <p:nvSpPr>
          <p:cNvPr id="12" name="TextBox 12"/>
          <p:cNvSpPr txBox="1"/>
          <p:nvPr/>
        </p:nvSpPr>
        <p:spPr>
          <a:xfrm>
            <a:off x="6466666" y="2010000"/>
            <a:ext cx="8666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123</a:t>
            </a:r>
            <a:endParaRPr lang="en-US" sz="1250"/>
          </a:p>
        </p:txBody>
      </p:sp>
      <p:sp>
        <p:nvSpPr>
          <p:cNvPr id="13" name="TextBox 13"/>
          <p:cNvSpPr txBox="1"/>
          <p:nvPr/>
        </p:nvSpPr>
        <p:spPr>
          <a:xfrm>
            <a:off x="7333332" y="2010000"/>
            <a:ext cx="8666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251</a:t>
            </a:r>
            <a:endParaRPr lang="en-US" sz="1250"/>
          </a:p>
        </p:txBody>
      </p:sp>
      <p:sp>
        <p:nvSpPr>
          <p:cNvPr id="14" name="TextBox 14"/>
          <p:cNvSpPr txBox="1"/>
          <p:nvPr/>
        </p:nvSpPr>
        <p:spPr>
          <a:xfrm>
            <a:off x="8199998" y="2010000"/>
            <a:ext cx="8666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733</a:t>
            </a:r>
            <a:endParaRPr lang="en-US" sz="1250"/>
          </a:p>
        </p:txBody>
      </p:sp>
      <p:sp>
        <p:nvSpPr>
          <p:cNvPr id="15" name="TextBox 15"/>
          <p:cNvSpPr txBox="1"/>
          <p:nvPr/>
        </p:nvSpPr>
        <p:spPr>
          <a:xfrm>
            <a:off x="9066664" y="2010000"/>
            <a:ext cx="8666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2449</a:t>
            </a:r>
            <a:endParaRPr lang="en-US" sz="1250"/>
          </a:p>
        </p:txBody>
      </p:sp>
      <p:sp>
        <p:nvSpPr>
          <p:cNvPr id="16" name="TextBox 16"/>
          <p:cNvSpPr txBox="1"/>
          <p:nvPr/>
        </p:nvSpPr>
        <p:spPr>
          <a:xfrm>
            <a:off x="9933330" y="2010000"/>
            <a:ext cx="8666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2918</a:t>
            </a:r>
            <a:endParaRPr lang="en-US" sz="1250"/>
          </a:p>
        </p:txBody>
      </p:sp>
      <p:sp>
        <p:nvSpPr>
          <p:cNvPr id="17" name="TextBox 17"/>
          <p:cNvSpPr txBox="1"/>
          <p:nvPr/>
        </p:nvSpPr>
        <p:spPr>
          <a:xfrm>
            <a:off x="5600000" y="3300000"/>
            <a:ext cx="5200000" cy="15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450" b="0">
                <a:solidFill>
                  <a:srgbClr val="222222"/>
                </a:solidFill>
              </a:rPr>
              <a:t>Score distribution placeholder</a:t>
            </a:r>
            <a:endParaRPr lang="en-US" sz="1450"/>
          </a:p>
          <a:p>
            <a:pPr algn="ctr"/>
            <a:r>
              <a:rPr lang="en-US" sz="1450" b="0">
                <a:solidFill>
                  <a:srgbClr val="222222"/>
                </a:solidFill>
              </a:rPr>
              <a:t>(replace with bar chart if desired)</a:t>
            </a:r>
            <a:endParaRPr lang="en-US" sz="14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Memory-Based Predictor Agent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200000"/>
            <a:ext cx="470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Memory construction summarizes historical scoring behavior.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Turn-level judge predicts score and reason for the current response.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Post-hoc calibration maps raw scores onto the user's historical score scale.</a:t>
            </a:r>
            <a:endParaRPr lang="en-US" sz="1450"/>
          </a:p>
        </p:txBody>
      </p:sp>
      <p:sp>
        <p:nvSpPr>
          <p:cNvPr id="5" name="TextBox 5"/>
          <p:cNvSpPr txBox="1"/>
          <p:nvPr/>
        </p:nvSpPr>
        <p:spPr>
          <a:xfrm>
            <a:off x="56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History + Labels</a:t>
            </a:r>
            <a:endParaRPr lang="en-US" sz="1350"/>
          </a:p>
        </p:txBody>
      </p:sp>
      <p:cxnSp>
        <p:nvCxnSpPr>
          <p:cNvPr id="6" name="Arrow 6"/>
          <p:cNvCxnSpPr/>
          <p:nvPr/>
        </p:nvCxnSpPr>
        <p:spPr>
          <a:xfrm>
            <a:off x="2860000" y="4525000"/>
            <a:ext cx="5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7"/>
          <p:cNvSpPr txBox="1"/>
          <p:nvPr/>
        </p:nvSpPr>
        <p:spPr>
          <a:xfrm>
            <a:off x="341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User Memory</a:t>
            </a:r>
            <a:endParaRPr lang="en-US" sz="1350"/>
          </a:p>
        </p:txBody>
      </p:sp>
      <p:cxnSp>
        <p:nvCxnSpPr>
          <p:cNvPr id="8" name="Arrow 8"/>
          <p:cNvCxnSpPr/>
          <p:nvPr/>
        </p:nvCxnSpPr>
        <p:spPr>
          <a:xfrm>
            <a:off x="5710000" y="4525000"/>
            <a:ext cx="5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9"/>
          <p:cNvSpPr txBox="1"/>
          <p:nvPr/>
        </p:nvSpPr>
        <p:spPr>
          <a:xfrm>
            <a:off x="626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Turn-Level Scoring</a:t>
            </a:r>
            <a:endParaRPr lang="en-US" sz="1350"/>
          </a:p>
        </p:txBody>
      </p:sp>
      <p:cxnSp>
        <p:nvCxnSpPr>
          <p:cNvPr id="10" name="Arrow 10"/>
          <p:cNvCxnSpPr/>
          <p:nvPr/>
        </p:nvCxnSpPr>
        <p:spPr>
          <a:xfrm>
            <a:off x="8560000" y="4525000"/>
            <a:ext cx="5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1"/>
          <p:cNvSpPr txBox="1"/>
          <p:nvPr/>
        </p:nvSpPr>
        <p:spPr>
          <a:xfrm>
            <a:off x="911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User-Aware Calibration</a:t>
            </a:r>
            <a:endParaRPr lang="en-US"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User Memory: What Is Extracted?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200000"/>
            <a:ext cx="4700000" cy="2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500">
                <a:solidFill>
                  <a:srgbClr val="333333"/>
                </a:solidFill>
              </a:rPr>
              <a:t>Score distribution and average historical satisfaction.</a:t>
            </a:r>
            <a:endParaRPr lang="en-US" sz="1500"/>
          </a:p>
          <a:p>
            <a:pPr marL="285750" indent="-171450">
              <a:buChar char="•"/>
            </a:pPr>
            <a:r>
              <a:rPr lang="en-US" sz="1500">
                <a:solidFill>
                  <a:srgbClr val="333333"/>
                </a:solidFill>
              </a:rPr>
              <a:t>Scoring style: strict vs lenient.</a:t>
            </a:r>
            <a:endParaRPr lang="en-US" sz="1500"/>
          </a:p>
          <a:p>
            <a:pPr marL="285750" indent="-171450">
              <a:buChar char="•"/>
            </a:pPr>
            <a:r>
              <a:rPr lang="en-US" sz="1500">
                <a:solidFill>
                  <a:srgbClr val="333333"/>
                </a:solidFill>
              </a:rPr>
              <a:t>Boundary distinctions: 3/4 and 4/5.</a:t>
            </a:r>
            <a:endParaRPr lang="en-US" sz="1500"/>
          </a:p>
          <a:p>
            <a:pPr marL="285750" indent="-171450">
              <a:buChar char="•"/>
            </a:pPr>
            <a:r>
              <a:rPr lang="en-US" sz="1500">
                <a:solidFill>
                  <a:srgbClr val="333333"/>
                </a:solidFill>
              </a:rPr>
              <a:t>User-specific requirements and task observations.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6100000" y="1220000"/>
            <a:ext cx="4500000" cy="480000"/>
          </a:xfrm>
          <a:prstGeom prst="rect">
            <a:avLst/>
          </a:prstGeom>
          <a:solidFill>
            <a:srgbClr val="FFF3E5"/>
          </a:solidFill>
          <a:ln w="12700">
            <a:solidFill>
              <a:srgbClr val="E8B06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score_distribution</a:t>
            </a:r>
            <a:endParaRPr lang="en-US" sz="1250"/>
          </a:p>
        </p:txBody>
      </p:sp>
      <p:sp>
        <p:nvSpPr>
          <p:cNvPr id="6" name="TextBox 6"/>
          <p:cNvSpPr txBox="1"/>
          <p:nvPr/>
        </p:nvSpPr>
        <p:spPr>
          <a:xfrm>
            <a:off x="6100000" y="1840000"/>
            <a:ext cx="4500000" cy="480000"/>
          </a:xfrm>
          <a:prstGeom prst="rect">
            <a:avLst/>
          </a:prstGeom>
          <a:solidFill>
            <a:srgbClr val="FFF3E5"/>
          </a:solidFill>
          <a:ln w="12700">
            <a:solidFill>
              <a:srgbClr val="E8B06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scoring_style</a:t>
            </a:r>
            <a:endParaRPr lang="en-US" sz="1250"/>
          </a:p>
        </p:txBody>
      </p:sp>
      <p:sp>
        <p:nvSpPr>
          <p:cNvPr id="7" name="TextBox 7"/>
          <p:cNvSpPr txBox="1"/>
          <p:nvPr/>
        </p:nvSpPr>
        <p:spPr>
          <a:xfrm>
            <a:off x="6100000" y="2460000"/>
            <a:ext cx="4500000" cy="480000"/>
          </a:xfrm>
          <a:prstGeom prst="rect">
            <a:avLst/>
          </a:prstGeom>
          <a:solidFill>
            <a:srgbClr val="FFF3E5"/>
          </a:solidFill>
          <a:ln w="12700">
            <a:solidFill>
              <a:srgbClr val="E8B06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three_vs_four_distinction</a:t>
            </a:r>
            <a:endParaRPr lang="en-US" sz="1250"/>
          </a:p>
        </p:txBody>
      </p:sp>
      <p:sp>
        <p:nvSpPr>
          <p:cNvPr id="8" name="TextBox 8"/>
          <p:cNvSpPr txBox="1"/>
          <p:nvPr/>
        </p:nvSpPr>
        <p:spPr>
          <a:xfrm>
            <a:off x="6100000" y="3080000"/>
            <a:ext cx="4500000" cy="480000"/>
          </a:xfrm>
          <a:prstGeom prst="rect">
            <a:avLst/>
          </a:prstGeom>
          <a:solidFill>
            <a:srgbClr val="FFF3E5"/>
          </a:solidFill>
          <a:ln w="12700">
            <a:solidFill>
              <a:srgbClr val="E8B06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four_vs_five_distinction</a:t>
            </a:r>
            <a:endParaRPr lang="en-US" sz="1250"/>
          </a:p>
        </p:txBody>
      </p:sp>
      <p:sp>
        <p:nvSpPr>
          <p:cNvPr id="9" name="TextBox 9"/>
          <p:cNvSpPr txBox="1"/>
          <p:nvPr/>
        </p:nvSpPr>
        <p:spPr>
          <a:xfrm>
            <a:off x="6100000" y="3700000"/>
            <a:ext cx="4500000" cy="480000"/>
          </a:xfrm>
          <a:prstGeom prst="rect">
            <a:avLst/>
          </a:prstGeom>
          <a:solidFill>
            <a:srgbClr val="FFF3E5"/>
          </a:solidFill>
          <a:ln w="12700">
            <a:solidFill>
              <a:srgbClr val="E8B06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user_specific_requirements</a:t>
            </a:r>
            <a:endParaRPr lang="en-US" sz="1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Calibration: Ranking vs. Score Scale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200000"/>
            <a:ext cx="5100000" cy="2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Raw LLM judges often provide useful relative ranking but poor absolute calibration.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Mean shift aligns block-level mean with the user's history.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CDF/rank mapping maps predicted ranks to the user's historical score distribution.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Raw and calibrated benchmark tracks should be reported separately.</a:t>
            </a:r>
            <a:endParaRPr lang="en-US" sz="1450"/>
          </a:p>
        </p:txBody>
      </p:sp>
      <p:sp>
        <p:nvSpPr>
          <p:cNvPr id="5" name="TextBox 5"/>
          <p:cNvSpPr txBox="1"/>
          <p:nvPr/>
        </p:nvSpPr>
        <p:spPr>
          <a:xfrm>
            <a:off x="6500000" y="1350000"/>
            <a:ext cx="3700000" cy="8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450" b="1">
                <a:solidFill>
                  <a:srgbClr val="222222"/>
                </a:solidFill>
              </a:rPr>
              <a:t>Raw semantic ranking</a:t>
            </a:r>
            <a:endParaRPr lang="en-US" sz="1450"/>
          </a:p>
        </p:txBody>
      </p:sp>
      <p:cxnSp>
        <p:nvCxnSpPr>
          <p:cNvPr id="6" name="Arrow 6"/>
          <p:cNvCxnSpPr/>
          <p:nvPr/>
        </p:nvCxnSpPr>
        <p:spPr>
          <a:xfrm>
            <a:off x="8350000" y="2150000"/>
            <a:ext cx="0" cy="60000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7"/>
          <p:cNvSpPr txBox="1"/>
          <p:nvPr/>
        </p:nvSpPr>
        <p:spPr>
          <a:xfrm>
            <a:off x="6500000" y="2850000"/>
            <a:ext cx="3700000" cy="800000"/>
          </a:xfrm>
          <a:prstGeom prst="rect">
            <a:avLst/>
          </a:prstGeom>
          <a:solidFill>
            <a:srgbClr val="E6FFFA"/>
          </a:solidFill>
          <a:ln w="12700">
            <a:solidFill>
              <a:srgbClr val="99D6D0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450" b="1">
                <a:solidFill>
                  <a:srgbClr val="222222"/>
                </a:solidFill>
              </a:rPr>
              <a:t>Mean Shift / CDF Mapping</a:t>
            </a:r>
            <a:endParaRPr lang="en-US" sz="1450"/>
          </a:p>
        </p:txBody>
      </p:sp>
      <p:cxnSp>
        <p:nvCxnSpPr>
          <p:cNvPr id="8" name="Arrow 8"/>
          <p:cNvCxnSpPr/>
          <p:nvPr/>
        </p:nvCxnSpPr>
        <p:spPr>
          <a:xfrm>
            <a:off x="8350000" y="3650000"/>
            <a:ext cx="0" cy="60000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9"/>
          <p:cNvSpPr txBox="1"/>
          <p:nvPr/>
        </p:nvSpPr>
        <p:spPr>
          <a:xfrm>
            <a:off x="6500000" y="4350000"/>
            <a:ext cx="3700000" cy="800000"/>
          </a:xfrm>
          <a:prstGeom prst="rect">
            <a:avLst/>
          </a:prstGeom>
          <a:solidFill>
            <a:srgbClr val="FFF3E5"/>
          </a:solidFill>
          <a:ln w="12700">
            <a:solidFill>
              <a:srgbClr val="E8B06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450" b="1">
                <a:solidFill>
                  <a:srgbClr val="222222"/>
                </a:solidFill>
              </a:rPr>
              <a:t>User-specific score scale</a:t>
            </a:r>
            <a:endParaRPr lang="en-US" sz="14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Finding 1: User History Alone Is Strong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150000"/>
            <a:ext cx="106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400">
                <a:solidFill>
                  <a:srgbClr val="333333"/>
                </a:solidFill>
              </a:rPr>
              <a:t>User strictness and leniency transfer strongly across tasks.</a:t>
            </a:r>
            <a:endParaRPr lang="en-US" sz="1400"/>
          </a:p>
          <a:p>
            <a:pPr marL="285750" indent="-171450">
              <a:buChar char="•"/>
            </a:pPr>
            <a:r>
              <a:rPr lang="en-US" sz="1400">
                <a:solidFill>
                  <a:srgbClr val="333333"/>
                </a:solidFill>
              </a:rPr>
              <a:t>History-only baselines are required for any personalized predictor comparison.</a:t>
            </a:r>
            <a:endParaRPr lang="en-US" sz="1400"/>
          </a:p>
        </p:txBody>
      </p:sp>
      <p:sp>
        <p:nvSpPr>
          <p:cNvPr id="5" name="TextBox 5"/>
          <p:cNvSpPr txBox="1"/>
          <p:nvPr/>
        </p:nvSpPr>
        <p:spPr>
          <a:xfrm>
            <a:off x="76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Method</a:t>
            </a:r>
            <a:endParaRPr lang="en-US" sz="1250"/>
          </a:p>
        </p:txBody>
      </p:sp>
      <p:sp>
        <p:nvSpPr>
          <p:cNvPr id="6" name="TextBox 6"/>
          <p:cNvSpPr txBox="1"/>
          <p:nvPr/>
        </p:nvSpPr>
        <p:spPr>
          <a:xfrm>
            <a:off x="288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MAE↓</a:t>
            </a:r>
            <a:endParaRPr lang="en-US" sz="1250"/>
          </a:p>
        </p:txBody>
      </p:sp>
      <p:sp>
        <p:nvSpPr>
          <p:cNvPr id="7" name="TextBox 7"/>
          <p:cNvSpPr txBox="1"/>
          <p:nvPr/>
        </p:nvSpPr>
        <p:spPr>
          <a:xfrm>
            <a:off x="500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Pearson↑</a:t>
            </a:r>
            <a:endParaRPr lang="en-US" sz="1250"/>
          </a:p>
        </p:txBody>
      </p:sp>
      <p:sp>
        <p:nvSpPr>
          <p:cNvPr id="8" name="TextBox 8"/>
          <p:cNvSpPr txBox="1"/>
          <p:nvPr/>
        </p:nvSpPr>
        <p:spPr>
          <a:xfrm>
            <a:off x="712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Spearman↑</a:t>
            </a:r>
            <a:endParaRPr lang="en-US" sz="1250"/>
          </a:p>
        </p:txBody>
      </p:sp>
      <p:sp>
        <p:nvSpPr>
          <p:cNvPr id="9" name="TextBox 9"/>
          <p:cNvSpPr txBox="1"/>
          <p:nvPr/>
        </p:nvSpPr>
        <p:spPr>
          <a:xfrm>
            <a:off x="924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QWK↑</a:t>
            </a:r>
            <a:endParaRPr lang="en-US" sz="1250"/>
          </a:p>
        </p:txBody>
      </p:sp>
      <p:sp>
        <p:nvSpPr>
          <p:cNvPr id="10" name="TextBox 10"/>
          <p:cNvSpPr txBox="1"/>
          <p:nvPr/>
        </p:nvSpPr>
        <p:spPr>
          <a:xfrm>
            <a:off x="76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global_mean</a:t>
            </a:r>
            <a:endParaRPr lang="en-US" sz="1250"/>
          </a:p>
        </p:txBody>
      </p:sp>
      <p:sp>
        <p:nvSpPr>
          <p:cNvPr id="11" name="TextBox 11"/>
          <p:cNvSpPr txBox="1"/>
          <p:nvPr/>
        </p:nvSpPr>
        <p:spPr>
          <a:xfrm>
            <a:off x="288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0.6985</a:t>
            </a:r>
            <a:endParaRPr lang="en-US" sz="1250"/>
          </a:p>
        </p:txBody>
      </p:sp>
      <p:sp>
        <p:nvSpPr>
          <p:cNvPr id="12" name="TextBox 12"/>
          <p:cNvSpPr txBox="1"/>
          <p:nvPr/>
        </p:nvSpPr>
        <p:spPr>
          <a:xfrm>
            <a:off x="500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N/A</a:t>
            </a:r>
            <a:endParaRPr lang="en-US" sz="1250"/>
          </a:p>
        </p:txBody>
      </p:sp>
      <p:sp>
        <p:nvSpPr>
          <p:cNvPr id="13" name="TextBox 13"/>
          <p:cNvSpPr txBox="1"/>
          <p:nvPr/>
        </p:nvSpPr>
        <p:spPr>
          <a:xfrm>
            <a:off x="712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N/A</a:t>
            </a:r>
            <a:endParaRPr lang="en-US" sz="1250"/>
          </a:p>
        </p:txBody>
      </p:sp>
      <p:sp>
        <p:nvSpPr>
          <p:cNvPr id="14" name="TextBox 14"/>
          <p:cNvSpPr txBox="1"/>
          <p:nvPr/>
        </p:nvSpPr>
        <p:spPr>
          <a:xfrm>
            <a:off x="924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0.0000</a:t>
            </a:r>
            <a:endParaRPr lang="en-US" sz="1250"/>
          </a:p>
        </p:txBody>
      </p:sp>
      <p:sp>
        <p:nvSpPr>
          <p:cNvPr id="15" name="TextBox 15"/>
          <p:cNvSpPr txBox="1"/>
          <p:nvPr/>
        </p:nvSpPr>
        <p:spPr>
          <a:xfrm>
            <a:off x="76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user_history_mean</a:t>
            </a:r>
            <a:endParaRPr lang="en-US" sz="1250"/>
          </a:p>
        </p:txBody>
      </p:sp>
      <p:sp>
        <p:nvSpPr>
          <p:cNvPr id="16" name="TextBox 16"/>
          <p:cNvSpPr txBox="1"/>
          <p:nvPr/>
        </p:nvSpPr>
        <p:spPr>
          <a:xfrm>
            <a:off x="288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0.5661</a:t>
            </a:r>
            <a:endParaRPr lang="en-US" sz="1250"/>
          </a:p>
        </p:txBody>
      </p:sp>
      <p:sp>
        <p:nvSpPr>
          <p:cNvPr id="17" name="TextBox 17"/>
          <p:cNvSpPr txBox="1"/>
          <p:nvPr/>
        </p:nvSpPr>
        <p:spPr>
          <a:xfrm>
            <a:off x="500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0.3560</a:t>
            </a:r>
            <a:endParaRPr lang="en-US" sz="1250"/>
          </a:p>
        </p:txBody>
      </p:sp>
      <p:sp>
        <p:nvSpPr>
          <p:cNvPr id="18" name="TextBox 18"/>
          <p:cNvSpPr txBox="1"/>
          <p:nvPr/>
        </p:nvSpPr>
        <p:spPr>
          <a:xfrm>
            <a:off x="712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0.3917</a:t>
            </a:r>
            <a:endParaRPr lang="en-US" sz="1250"/>
          </a:p>
        </p:txBody>
      </p:sp>
      <p:sp>
        <p:nvSpPr>
          <p:cNvPr id="19" name="TextBox 19"/>
          <p:cNvSpPr txBox="1"/>
          <p:nvPr/>
        </p:nvSpPr>
        <p:spPr>
          <a:xfrm>
            <a:off x="924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0.3105</a:t>
            </a:r>
            <a:endParaRPr lang="en-US" sz="1250"/>
          </a:p>
        </p:txBody>
      </p:sp>
      <p:sp>
        <p:nvSpPr>
          <p:cNvPr id="20" name="TextBox 20"/>
          <p:cNvSpPr txBox="1"/>
          <p:nvPr/>
        </p:nvSpPr>
        <p:spPr>
          <a:xfrm>
            <a:off x="76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user_history_median</a:t>
            </a:r>
            <a:endParaRPr lang="en-US" sz="1250"/>
          </a:p>
        </p:txBody>
      </p:sp>
      <p:sp>
        <p:nvSpPr>
          <p:cNvPr id="21" name="TextBox 21"/>
          <p:cNvSpPr txBox="1"/>
          <p:nvPr/>
        </p:nvSpPr>
        <p:spPr>
          <a:xfrm>
            <a:off x="288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0.5542</a:t>
            </a:r>
            <a:endParaRPr lang="en-US" sz="1250"/>
          </a:p>
        </p:txBody>
      </p:sp>
      <p:sp>
        <p:nvSpPr>
          <p:cNvPr id="22" name="TextBox 22"/>
          <p:cNvSpPr txBox="1"/>
          <p:nvPr/>
        </p:nvSpPr>
        <p:spPr>
          <a:xfrm>
            <a:off x="500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0.3526</a:t>
            </a:r>
            <a:endParaRPr lang="en-US" sz="1250"/>
          </a:p>
        </p:txBody>
      </p:sp>
      <p:sp>
        <p:nvSpPr>
          <p:cNvPr id="23" name="TextBox 23"/>
          <p:cNvSpPr txBox="1"/>
          <p:nvPr/>
        </p:nvSpPr>
        <p:spPr>
          <a:xfrm>
            <a:off x="712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0.3972</a:t>
            </a:r>
            <a:endParaRPr lang="en-US" sz="1250"/>
          </a:p>
        </p:txBody>
      </p:sp>
      <p:sp>
        <p:nvSpPr>
          <p:cNvPr id="24" name="TextBox 24"/>
          <p:cNvSpPr txBox="1"/>
          <p:nvPr/>
        </p:nvSpPr>
        <p:spPr>
          <a:xfrm>
            <a:off x="924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0.3075</a:t>
            </a:r>
            <a:endParaRPr lang="en-US" sz="1250"/>
          </a:p>
        </p:txBody>
      </p:sp>
      <p:sp>
        <p:nvSpPr>
          <p:cNvPr id="25" name="TextBox 25"/>
          <p:cNvSpPr txBox="1"/>
          <p:nvPr/>
        </p:nvSpPr>
        <p:spPr>
          <a:xfrm>
            <a:off x="76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nearest_history_turn_k3</a:t>
            </a:r>
            <a:endParaRPr lang="en-US" sz="1250"/>
          </a:p>
        </p:txBody>
      </p:sp>
      <p:sp>
        <p:nvSpPr>
          <p:cNvPr id="26" name="TextBox 26"/>
          <p:cNvSpPr txBox="1"/>
          <p:nvPr/>
        </p:nvSpPr>
        <p:spPr>
          <a:xfrm>
            <a:off x="288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0.6285</a:t>
            </a:r>
            <a:endParaRPr lang="en-US" sz="1250"/>
          </a:p>
        </p:txBody>
      </p:sp>
      <p:sp>
        <p:nvSpPr>
          <p:cNvPr id="27" name="TextBox 27"/>
          <p:cNvSpPr txBox="1"/>
          <p:nvPr/>
        </p:nvSpPr>
        <p:spPr>
          <a:xfrm>
            <a:off x="500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0.3076</a:t>
            </a:r>
            <a:endParaRPr lang="en-US" sz="1250"/>
          </a:p>
        </p:txBody>
      </p:sp>
      <p:sp>
        <p:nvSpPr>
          <p:cNvPr id="28" name="TextBox 28"/>
          <p:cNvSpPr txBox="1"/>
          <p:nvPr/>
        </p:nvSpPr>
        <p:spPr>
          <a:xfrm>
            <a:off x="712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0.3406</a:t>
            </a:r>
            <a:endParaRPr lang="en-US" sz="1250"/>
          </a:p>
        </p:txBody>
      </p:sp>
      <p:sp>
        <p:nvSpPr>
          <p:cNvPr id="29" name="TextBox 29"/>
          <p:cNvSpPr txBox="1"/>
          <p:nvPr/>
        </p:nvSpPr>
        <p:spPr>
          <a:xfrm>
            <a:off x="924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0.2974</a:t>
            </a:r>
            <a:endParaRPr lang="en-US" sz="1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Finding 2: LLM Judges Need Calibration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150000"/>
            <a:ext cx="106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400">
                <a:solidFill>
                  <a:srgbClr val="333333"/>
                </a:solidFill>
              </a:rPr>
              <a:t>Qwen3-8B memory predictor improves over no-memory on correlation and QWK.</a:t>
            </a:r>
            <a:endParaRPr lang="en-US" sz="1400"/>
          </a:p>
          <a:p>
            <a:pPr marL="285750" indent="-171450">
              <a:buChar char="•"/>
            </a:pPr>
            <a:r>
              <a:rPr lang="en-US" sz="1400">
                <a:solidFill>
                  <a:srgbClr val="333333"/>
                </a:solidFill>
              </a:rPr>
              <a:t>Mean shift and CDF calibration give the strongest full-run Qwen results.</a:t>
            </a:r>
            <a:endParaRPr lang="en-US" sz="1400"/>
          </a:p>
        </p:txBody>
      </p:sp>
      <p:sp>
        <p:nvSpPr>
          <p:cNvPr id="5" name="TextBox 5"/>
          <p:cNvSpPr txBox="1"/>
          <p:nvPr/>
        </p:nvSpPr>
        <p:spPr>
          <a:xfrm>
            <a:off x="76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Method</a:t>
            </a:r>
            <a:endParaRPr lang="en-US" sz="1250"/>
          </a:p>
        </p:txBody>
      </p:sp>
      <p:sp>
        <p:nvSpPr>
          <p:cNvPr id="6" name="TextBox 6"/>
          <p:cNvSpPr txBox="1"/>
          <p:nvPr/>
        </p:nvSpPr>
        <p:spPr>
          <a:xfrm>
            <a:off x="288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MAE↓</a:t>
            </a:r>
            <a:endParaRPr lang="en-US" sz="1250"/>
          </a:p>
        </p:txBody>
      </p:sp>
      <p:sp>
        <p:nvSpPr>
          <p:cNvPr id="7" name="TextBox 7"/>
          <p:cNvSpPr txBox="1"/>
          <p:nvPr/>
        </p:nvSpPr>
        <p:spPr>
          <a:xfrm>
            <a:off x="500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Pearson↑</a:t>
            </a:r>
            <a:endParaRPr lang="en-US" sz="1250"/>
          </a:p>
        </p:txBody>
      </p:sp>
      <p:sp>
        <p:nvSpPr>
          <p:cNvPr id="8" name="TextBox 8"/>
          <p:cNvSpPr txBox="1"/>
          <p:nvPr/>
        </p:nvSpPr>
        <p:spPr>
          <a:xfrm>
            <a:off x="712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Spearman↑</a:t>
            </a:r>
            <a:endParaRPr lang="en-US" sz="1250"/>
          </a:p>
        </p:txBody>
      </p:sp>
      <p:sp>
        <p:nvSpPr>
          <p:cNvPr id="9" name="TextBox 9"/>
          <p:cNvSpPr txBox="1"/>
          <p:nvPr/>
        </p:nvSpPr>
        <p:spPr>
          <a:xfrm>
            <a:off x="924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QWK↑</a:t>
            </a:r>
            <a:endParaRPr lang="en-US" sz="1250"/>
          </a:p>
        </p:txBody>
      </p:sp>
      <p:sp>
        <p:nvSpPr>
          <p:cNvPr id="10" name="TextBox 10"/>
          <p:cNvSpPr txBox="1"/>
          <p:nvPr/>
        </p:nvSpPr>
        <p:spPr>
          <a:xfrm>
            <a:off x="76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Qwen no_memory</a:t>
            </a:r>
            <a:endParaRPr lang="en-US" sz="1250"/>
          </a:p>
        </p:txBody>
      </p:sp>
      <p:sp>
        <p:nvSpPr>
          <p:cNvPr id="11" name="TextBox 11"/>
          <p:cNvSpPr txBox="1"/>
          <p:nvPr/>
        </p:nvSpPr>
        <p:spPr>
          <a:xfrm>
            <a:off x="288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0.7471</a:t>
            </a:r>
            <a:endParaRPr lang="en-US" sz="1250"/>
          </a:p>
        </p:txBody>
      </p:sp>
      <p:sp>
        <p:nvSpPr>
          <p:cNvPr id="12" name="TextBox 12"/>
          <p:cNvSpPr txBox="1"/>
          <p:nvPr/>
        </p:nvSpPr>
        <p:spPr>
          <a:xfrm>
            <a:off x="500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0.1868</a:t>
            </a:r>
            <a:endParaRPr lang="en-US" sz="1250"/>
          </a:p>
        </p:txBody>
      </p:sp>
      <p:sp>
        <p:nvSpPr>
          <p:cNvPr id="13" name="TextBox 13"/>
          <p:cNvSpPr txBox="1"/>
          <p:nvPr/>
        </p:nvSpPr>
        <p:spPr>
          <a:xfrm>
            <a:off x="712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0.1184</a:t>
            </a:r>
            <a:endParaRPr lang="en-US" sz="1250"/>
          </a:p>
        </p:txBody>
      </p:sp>
      <p:sp>
        <p:nvSpPr>
          <p:cNvPr id="14" name="TextBox 14"/>
          <p:cNvSpPr txBox="1"/>
          <p:nvPr/>
        </p:nvSpPr>
        <p:spPr>
          <a:xfrm>
            <a:off x="924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0.1096</a:t>
            </a:r>
            <a:endParaRPr lang="en-US" sz="1250"/>
          </a:p>
        </p:txBody>
      </p:sp>
      <p:sp>
        <p:nvSpPr>
          <p:cNvPr id="15" name="TextBox 15"/>
          <p:cNvSpPr txBox="1"/>
          <p:nvPr/>
        </p:nvSpPr>
        <p:spPr>
          <a:xfrm>
            <a:off x="76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Qwen none</a:t>
            </a:r>
            <a:endParaRPr lang="en-US" sz="1250"/>
          </a:p>
        </p:txBody>
      </p:sp>
      <p:sp>
        <p:nvSpPr>
          <p:cNvPr id="16" name="TextBox 16"/>
          <p:cNvSpPr txBox="1"/>
          <p:nvPr/>
        </p:nvSpPr>
        <p:spPr>
          <a:xfrm>
            <a:off x="288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0.7110</a:t>
            </a:r>
            <a:endParaRPr lang="en-US" sz="1250"/>
          </a:p>
        </p:txBody>
      </p:sp>
      <p:sp>
        <p:nvSpPr>
          <p:cNvPr id="17" name="TextBox 17"/>
          <p:cNvSpPr txBox="1"/>
          <p:nvPr/>
        </p:nvSpPr>
        <p:spPr>
          <a:xfrm>
            <a:off x="500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0.2967</a:t>
            </a:r>
            <a:endParaRPr lang="en-US" sz="1250"/>
          </a:p>
        </p:txBody>
      </p:sp>
      <p:sp>
        <p:nvSpPr>
          <p:cNvPr id="18" name="TextBox 18"/>
          <p:cNvSpPr txBox="1"/>
          <p:nvPr/>
        </p:nvSpPr>
        <p:spPr>
          <a:xfrm>
            <a:off x="712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0.2820</a:t>
            </a:r>
            <a:endParaRPr lang="en-US" sz="1250"/>
          </a:p>
        </p:txBody>
      </p:sp>
      <p:sp>
        <p:nvSpPr>
          <p:cNvPr id="19" name="TextBox 19"/>
          <p:cNvSpPr txBox="1"/>
          <p:nvPr/>
        </p:nvSpPr>
        <p:spPr>
          <a:xfrm>
            <a:off x="924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0.2815</a:t>
            </a:r>
            <a:endParaRPr lang="en-US" sz="1250"/>
          </a:p>
        </p:txBody>
      </p:sp>
      <p:sp>
        <p:nvSpPr>
          <p:cNvPr id="20" name="TextBox 20"/>
          <p:cNvSpPr txBox="1"/>
          <p:nvPr/>
        </p:nvSpPr>
        <p:spPr>
          <a:xfrm>
            <a:off x="76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Qwen none + MS</a:t>
            </a:r>
            <a:endParaRPr lang="en-US" sz="1250"/>
          </a:p>
        </p:txBody>
      </p:sp>
      <p:sp>
        <p:nvSpPr>
          <p:cNvPr id="21" name="TextBox 21"/>
          <p:cNvSpPr txBox="1"/>
          <p:nvPr/>
        </p:nvSpPr>
        <p:spPr>
          <a:xfrm>
            <a:off x="288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0.6277</a:t>
            </a:r>
            <a:endParaRPr lang="en-US" sz="1250"/>
          </a:p>
        </p:txBody>
      </p:sp>
      <p:sp>
        <p:nvSpPr>
          <p:cNvPr id="22" name="TextBox 22"/>
          <p:cNvSpPr txBox="1"/>
          <p:nvPr/>
        </p:nvSpPr>
        <p:spPr>
          <a:xfrm>
            <a:off x="500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0.3668</a:t>
            </a:r>
            <a:endParaRPr lang="en-US" sz="1250"/>
          </a:p>
        </p:txBody>
      </p:sp>
      <p:sp>
        <p:nvSpPr>
          <p:cNvPr id="23" name="TextBox 23"/>
          <p:cNvSpPr txBox="1"/>
          <p:nvPr/>
        </p:nvSpPr>
        <p:spPr>
          <a:xfrm>
            <a:off x="712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0.3674</a:t>
            </a:r>
            <a:endParaRPr lang="en-US" sz="1250"/>
          </a:p>
        </p:txBody>
      </p:sp>
      <p:sp>
        <p:nvSpPr>
          <p:cNvPr id="24" name="TextBox 24"/>
          <p:cNvSpPr txBox="1"/>
          <p:nvPr/>
        </p:nvSpPr>
        <p:spPr>
          <a:xfrm>
            <a:off x="924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0.3589</a:t>
            </a:r>
            <a:endParaRPr lang="en-US" sz="1250"/>
          </a:p>
        </p:txBody>
      </p:sp>
      <p:sp>
        <p:nvSpPr>
          <p:cNvPr id="25" name="TextBox 25"/>
          <p:cNvSpPr txBox="1"/>
          <p:nvPr/>
        </p:nvSpPr>
        <p:spPr>
          <a:xfrm>
            <a:off x="76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Qwen none + CDF</a:t>
            </a:r>
            <a:endParaRPr lang="en-US" sz="1250"/>
          </a:p>
        </p:txBody>
      </p:sp>
      <p:sp>
        <p:nvSpPr>
          <p:cNvPr id="26" name="TextBox 26"/>
          <p:cNvSpPr txBox="1"/>
          <p:nvPr/>
        </p:nvSpPr>
        <p:spPr>
          <a:xfrm>
            <a:off x="288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0.6355</a:t>
            </a:r>
            <a:endParaRPr lang="en-US" sz="1250"/>
          </a:p>
        </p:txBody>
      </p:sp>
      <p:sp>
        <p:nvSpPr>
          <p:cNvPr id="27" name="TextBox 27"/>
          <p:cNvSpPr txBox="1"/>
          <p:nvPr/>
        </p:nvSpPr>
        <p:spPr>
          <a:xfrm>
            <a:off x="500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0.3601</a:t>
            </a:r>
            <a:endParaRPr lang="en-US" sz="1250"/>
          </a:p>
        </p:txBody>
      </p:sp>
      <p:sp>
        <p:nvSpPr>
          <p:cNvPr id="28" name="TextBox 28"/>
          <p:cNvSpPr txBox="1"/>
          <p:nvPr/>
        </p:nvSpPr>
        <p:spPr>
          <a:xfrm>
            <a:off x="712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0.3716</a:t>
            </a:r>
            <a:endParaRPr lang="en-US" sz="1250"/>
          </a:p>
        </p:txBody>
      </p:sp>
      <p:sp>
        <p:nvSpPr>
          <p:cNvPr id="29" name="TextBox 29"/>
          <p:cNvSpPr txBox="1"/>
          <p:nvPr/>
        </p:nvSpPr>
        <p:spPr>
          <a:xfrm>
            <a:off x="924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0.3595</a:t>
            </a:r>
            <a:endParaRPr lang="en-US" sz="1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Finding 3: The 3/4 Boundary Needs Separate Evaluation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150000"/>
            <a:ext cx="106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400">
                <a:solidFill>
                  <a:srgbClr val="333333"/>
                </a:solidFill>
              </a:rPr>
              <a:t>Accuracy is misleading because most turns are satisfied.</a:t>
            </a:r>
            <a:endParaRPr lang="en-US" sz="1400"/>
          </a:p>
          <a:p>
            <a:pPr marL="285750" indent="-171450">
              <a:buChar char="•"/>
            </a:pPr>
            <a:r>
              <a:rPr lang="en-US" sz="1400">
                <a:solidFill>
                  <a:srgbClr val="333333"/>
                </a:solidFill>
              </a:rPr>
              <a:t>F1-DSAT, false-SAT rate, and boundary kappa better reflect dissatisfaction detection.</a:t>
            </a:r>
            <a:endParaRPr lang="en-US" sz="1400"/>
          </a:p>
        </p:txBody>
      </p:sp>
      <p:sp>
        <p:nvSpPr>
          <p:cNvPr id="5" name="TextBox 5"/>
          <p:cNvSpPr txBox="1"/>
          <p:nvPr/>
        </p:nvSpPr>
        <p:spPr>
          <a:xfrm>
            <a:off x="76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Method</a:t>
            </a:r>
            <a:endParaRPr lang="en-US" sz="1250"/>
          </a:p>
        </p:txBody>
      </p:sp>
      <p:sp>
        <p:nvSpPr>
          <p:cNvPr id="6" name="TextBox 6"/>
          <p:cNvSpPr txBox="1"/>
          <p:nvPr/>
        </p:nvSpPr>
        <p:spPr>
          <a:xfrm>
            <a:off x="288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Boundary Acc</a:t>
            </a:r>
            <a:endParaRPr lang="en-US" sz="1250"/>
          </a:p>
        </p:txBody>
      </p:sp>
      <p:sp>
        <p:nvSpPr>
          <p:cNvPr id="7" name="TextBox 7"/>
          <p:cNvSpPr txBox="1"/>
          <p:nvPr/>
        </p:nvSpPr>
        <p:spPr>
          <a:xfrm>
            <a:off x="500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F1-DSAT</a:t>
            </a:r>
            <a:endParaRPr lang="en-US" sz="1250"/>
          </a:p>
        </p:txBody>
      </p:sp>
      <p:sp>
        <p:nvSpPr>
          <p:cNvPr id="8" name="TextBox 8"/>
          <p:cNvSpPr txBox="1"/>
          <p:nvPr/>
        </p:nvSpPr>
        <p:spPr>
          <a:xfrm>
            <a:off x="712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False SAT</a:t>
            </a:r>
            <a:endParaRPr lang="en-US" sz="1250"/>
          </a:p>
        </p:txBody>
      </p:sp>
      <p:sp>
        <p:nvSpPr>
          <p:cNvPr id="9" name="TextBox 9"/>
          <p:cNvSpPr txBox="1"/>
          <p:nvPr/>
        </p:nvSpPr>
        <p:spPr>
          <a:xfrm>
            <a:off x="924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False DSAT</a:t>
            </a:r>
            <a:endParaRPr lang="en-US" sz="1250"/>
          </a:p>
        </p:txBody>
      </p:sp>
      <p:sp>
        <p:nvSpPr>
          <p:cNvPr id="10" name="TextBox 10"/>
          <p:cNvSpPr txBox="1"/>
          <p:nvPr/>
        </p:nvSpPr>
        <p:spPr>
          <a:xfrm>
            <a:off x="76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Qwen none</a:t>
            </a:r>
            <a:endParaRPr lang="en-US" sz="1250"/>
          </a:p>
        </p:txBody>
      </p:sp>
      <p:sp>
        <p:nvSpPr>
          <p:cNvPr id="11" name="TextBox 11"/>
          <p:cNvSpPr txBox="1"/>
          <p:nvPr/>
        </p:nvSpPr>
        <p:spPr>
          <a:xfrm>
            <a:off x="288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0.7555</a:t>
            </a:r>
            <a:endParaRPr lang="en-US" sz="1250"/>
          </a:p>
        </p:txBody>
      </p:sp>
      <p:sp>
        <p:nvSpPr>
          <p:cNvPr id="12" name="TextBox 12"/>
          <p:cNvSpPr txBox="1"/>
          <p:nvPr/>
        </p:nvSpPr>
        <p:spPr>
          <a:xfrm>
            <a:off x="500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0.3312</a:t>
            </a:r>
            <a:endParaRPr lang="en-US" sz="1250"/>
          </a:p>
        </p:txBody>
      </p:sp>
      <p:sp>
        <p:nvSpPr>
          <p:cNvPr id="13" name="TextBox 13"/>
          <p:cNvSpPr txBox="1"/>
          <p:nvPr/>
        </p:nvSpPr>
        <p:spPr>
          <a:xfrm>
            <a:off x="712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0.6459</a:t>
            </a:r>
            <a:endParaRPr lang="en-US" sz="1250"/>
          </a:p>
        </p:txBody>
      </p:sp>
      <p:sp>
        <p:nvSpPr>
          <p:cNvPr id="14" name="TextBox 14"/>
          <p:cNvSpPr txBox="1"/>
          <p:nvPr/>
        </p:nvSpPr>
        <p:spPr>
          <a:xfrm>
            <a:off x="924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0.1617</a:t>
            </a:r>
            <a:endParaRPr lang="en-US" sz="1250"/>
          </a:p>
        </p:txBody>
      </p:sp>
      <p:sp>
        <p:nvSpPr>
          <p:cNvPr id="15" name="TextBox 15"/>
          <p:cNvSpPr txBox="1"/>
          <p:nvPr/>
        </p:nvSpPr>
        <p:spPr>
          <a:xfrm>
            <a:off x="76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boundary_34_refute</a:t>
            </a:r>
            <a:endParaRPr lang="en-US" sz="1250"/>
          </a:p>
        </p:txBody>
      </p:sp>
      <p:sp>
        <p:nvSpPr>
          <p:cNvPr id="16" name="TextBox 16"/>
          <p:cNvSpPr txBox="1"/>
          <p:nvPr/>
        </p:nvSpPr>
        <p:spPr>
          <a:xfrm>
            <a:off x="288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0.6793</a:t>
            </a:r>
            <a:endParaRPr lang="en-US" sz="1250"/>
          </a:p>
        </p:txBody>
      </p:sp>
      <p:sp>
        <p:nvSpPr>
          <p:cNvPr id="17" name="TextBox 17"/>
          <p:cNvSpPr txBox="1"/>
          <p:nvPr/>
        </p:nvSpPr>
        <p:spPr>
          <a:xfrm>
            <a:off x="500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0.3418</a:t>
            </a:r>
            <a:endParaRPr lang="en-US" sz="1250"/>
          </a:p>
        </p:txBody>
      </p:sp>
      <p:sp>
        <p:nvSpPr>
          <p:cNvPr id="18" name="TextBox 18"/>
          <p:cNvSpPr txBox="1"/>
          <p:nvPr/>
        </p:nvSpPr>
        <p:spPr>
          <a:xfrm>
            <a:off x="712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0.5131</a:t>
            </a:r>
            <a:endParaRPr lang="en-US" sz="1250"/>
          </a:p>
        </p:txBody>
      </p:sp>
      <p:sp>
        <p:nvSpPr>
          <p:cNvPr id="19" name="TextBox 19"/>
          <p:cNvSpPr txBox="1"/>
          <p:nvPr/>
        </p:nvSpPr>
        <p:spPr>
          <a:xfrm>
            <a:off x="924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0.2810</a:t>
            </a:r>
            <a:endParaRPr lang="en-US" sz="1250"/>
          </a:p>
        </p:txBody>
      </p:sp>
      <p:sp>
        <p:nvSpPr>
          <p:cNvPr id="20" name="TextBox 20"/>
          <p:cNvSpPr txBox="1"/>
          <p:nvPr/>
        </p:nvSpPr>
        <p:spPr>
          <a:xfrm>
            <a:off x="76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selective_refute_v2</a:t>
            </a:r>
            <a:endParaRPr lang="en-US" sz="1250"/>
          </a:p>
        </p:txBody>
      </p:sp>
      <p:sp>
        <p:nvSpPr>
          <p:cNvPr id="21" name="TextBox 21"/>
          <p:cNvSpPr txBox="1"/>
          <p:nvPr/>
        </p:nvSpPr>
        <p:spPr>
          <a:xfrm>
            <a:off x="288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0.7260</a:t>
            </a:r>
            <a:endParaRPr lang="en-US" sz="1250"/>
          </a:p>
        </p:txBody>
      </p:sp>
      <p:sp>
        <p:nvSpPr>
          <p:cNvPr id="22" name="TextBox 22"/>
          <p:cNvSpPr txBox="1"/>
          <p:nvPr/>
        </p:nvSpPr>
        <p:spPr>
          <a:xfrm>
            <a:off x="500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0.3177</a:t>
            </a:r>
            <a:endParaRPr lang="en-US" sz="1250"/>
          </a:p>
        </p:txBody>
      </p:sp>
      <p:sp>
        <p:nvSpPr>
          <p:cNvPr id="23" name="TextBox 23"/>
          <p:cNvSpPr txBox="1"/>
          <p:nvPr/>
        </p:nvSpPr>
        <p:spPr>
          <a:xfrm>
            <a:off x="712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0.6269</a:t>
            </a:r>
            <a:endParaRPr lang="en-US" sz="1250"/>
          </a:p>
        </p:txBody>
      </p:sp>
      <p:sp>
        <p:nvSpPr>
          <p:cNvPr id="24" name="TextBox 24"/>
          <p:cNvSpPr txBox="1"/>
          <p:nvPr/>
        </p:nvSpPr>
        <p:spPr>
          <a:xfrm>
            <a:off x="924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0.2012</a:t>
            </a:r>
            <a:endParaRPr lang="en-US" sz="1250"/>
          </a:p>
        </p:txBody>
      </p:sp>
      <p:sp>
        <p:nvSpPr>
          <p:cNvPr id="25" name="TextBox 25"/>
          <p:cNvSpPr txBox="1"/>
          <p:nvPr/>
        </p:nvSpPr>
        <p:spPr>
          <a:xfrm>
            <a:off x="76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reasonfix + anchor2</a:t>
            </a:r>
            <a:endParaRPr lang="en-US" sz="1250"/>
          </a:p>
        </p:txBody>
      </p:sp>
      <p:sp>
        <p:nvSpPr>
          <p:cNvPr id="26" name="TextBox 26"/>
          <p:cNvSpPr txBox="1"/>
          <p:nvPr/>
        </p:nvSpPr>
        <p:spPr>
          <a:xfrm>
            <a:off x="288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0.7252</a:t>
            </a:r>
            <a:endParaRPr lang="en-US" sz="1250"/>
          </a:p>
        </p:txBody>
      </p:sp>
      <p:sp>
        <p:nvSpPr>
          <p:cNvPr id="27" name="TextBox 27"/>
          <p:cNvSpPr txBox="1"/>
          <p:nvPr/>
        </p:nvSpPr>
        <p:spPr>
          <a:xfrm>
            <a:off x="500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0.3197</a:t>
            </a:r>
            <a:endParaRPr lang="en-US" sz="1250"/>
          </a:p>
        </p:txBody>
      </p:sp>
      <p:sp>
        <p:nvSpPr>
          <p:cNvPr id="28" name="TextBox 28"/>
          <p:cNvSpPr txBox="1"/>
          <p:nvPr/>
        </p:nvSpPr>
        <p:spPr>
          <a:xfrm>
            <a:off x="712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0.6224</a:t>
            </a:r>
            <a:endParaRPr lang="en-US" sz="1250"/>
          </a:p>
        </p:txBody>
      </p:sp>
      <p:sp>
        <p:nvSpPr>
          <p:cNvPr id="29" name="TextBox 29"/>
          <p:cNvSpPr txBox="1"/>
          <p:nvPr/>
        </p:nvSpPr>
        <p:spPr>
          <a:xfrm>
            <a:off x="924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0.2031</a:t>
            </a:r>
            <a:endParaRPr lang="en-US"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Finding 4: Larger Models Change the Error Shape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150000"/>
            <a:ext cx="106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400">
                <a:solidFill>
                  <a:srgbClr val="333333"/>
                </a:solidFill>
              </a:rPr>
              <a:t>Qwen3.6-35B-A3B improves ordinal signal and DSAT detection on a 20-user subset.</a:t>
            </a:r>
            <a:endParaRPr lang="en-US" sz="1400"/>
          </a:p>
          <a:p>
            <a:pPr marL="285750" indent="-171450">
              <a:buChar char="•"/>
            </a:pPr>
            <a:r>
              <a:rPr lang="en-US" sz="1400">
                <a:solidFill>
                  <a:srgbClr val="333333"/>
                </a:solidFill>
              </a:rPr>
              <a:t>Raw Qwen3.6 is stricter and hurts MAE; calibration is essential.</a:t>
            </a:r>
            <a:endParaRPr lang="en-US" sz="1400"/>
          </a:p>
        </p:txBody>
      </p:sp>
      <p:sp>
        <p:nvSpPr>
          <p:cNvPr id="5" name="TextBox 5"/>
          <p:cNvSpPr txBox="1"/>
          <p:nvPr/>
        </p:nvSpPr>
        <p:spPr>
          <a:xfrm>
            <a:off x="76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Method</a:t>
            </a:r>
            <a:endParaRPr lang="en-US" sz="1250"/>
          </a:p>
        </p:txBody>
      </p:sp>
      <p:sp>
        <p:nvSpPr>
          <p:cNvPr id="6" name="TextBox 6"/>
          <p:cNvSpPr txBox="1"/>
          <p:nvPr/>
        </p:nvSpPr>
        <p:spPr>
          <a:xfrm>
            <a:off x="288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MAE↓</a:t>
            </a:r>
            <a:endParaRPr lang="en-US" sz="1250"/>
          </a:p>
        </p:txBody>
      </p:sp>
      <p:sp>
        <p:nvSpPr>
          <p:cNvPr id="7" name="TextBox 7"/>
          <p:cNvSpPr txBox="1"/>
          <p:nvPr/>
        </p:nvSpPr>
        <p:spPr>
          <a:xfrm>
            <a:off x="500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Pearson↑</a:t>
            </a:r>
            <a:endParaRPr lang="en-US" sz="1250"/>
          </a:p>
        </p:txBody>
      </p:sp>
      <p:sp>
        <p:nvSpPr>
          <p:cNvPr id="8" name="TextBox 8"/>
          <p:cNvSpPr txBox="1"/>
          <p:nvPr/>
        </p:nvSpPr>
        <p:spPr>
          <a:xfrm>
            <a:off x="712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QWK↑</a:t>
            </a:r>
            <a:endParaRPr lang="en-US" sz="1250"/>
          </a:p>
        </p:txBody>
      </p:sp>
      <p:sp>
        <p:nvSpPr>
          <p:cNvPr id="9" name="TextBox 9"/>
          <p:cNvSpPr txBox="1"/>
          <p:nvPr/>
        </p:nvSpPr>
        <p:spPr>
          <a:xfrm>
            <a:off x="9240000" y="2250000"/>
            <a:ext cx="2120000" cy="475000"/>
          </a:xfrm>
          <a:prstGeom prst="rect">
            <a:avLst/>
          </a:prstGeom>
          <a:solidFill>
            <a:srgbClr val="DCEB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F1-DSAT↑</a:t>
            </a:r>
            <a:endParaRPr lang="en-US" sz="1250"/>
          </a:p>
        </p:txBody>
      </p:sp>
      <p:sp>
        <p:nvSpPr>
          <p:cNvPr id="10" name="TextBox 10"/>
          <p:cNvSpPr txBox="1"/>
          <p:nvPr/>
        </p:nvSpPr>
        <p:spPr>
          <a:xfrm>
            <a:off x="76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Qwen3-8B raw</a:t>
            </a:r>
            <a:endParaRPr lang="en-US" sz="1250"/>
          </a:p>
        </p:txBody>
      </p:sp>
      <p:sp>
        <p:nvSpPr>
          <p:cNvPr id="11" name="TextBox 11"/>
          <p:cNvSpPr txBox="1"/>
          <p:nvPr/>
        </p:nvSpPr>
        <p:spPr>
          <a:xfrm>
            <a:off x="288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0.7077</a:t>
            </a:r>
            <a:endParaRPr lang="en-US" sz="1250"/>
          </a:p>
        </p:txBody>
      </p:sp>
      <p:sp>
        <p:nvSpPr>
          <p:cNvPr id="12" name="TextBox 12"/>
          <p:cNvSpPr txBox="1"/>
          <p:nvPr/>
        </p:nvSpPr>
        <p:spPr>
          <a:xfrm>
            <a:off x="500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0.2999</a:t>
            </a:r>
            <a:endParaRPr lang="en-US" sz="1250"/>
          </a:p>
        </p:txBody>
      </p:sp>
      <p:sp>
        <p:nvSpPr>
          <p:cNvPr id="13" name="TextBox 13"/>
          <p:cNvSpPr txBox="1"/>
          <p:nvPr/>
        </p:nvSpPr>
        <p:spPr>
          <a:xfrm>
            <a:off x="712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0.2807</a:t>
            </a:r>
            <a:endParaRPr lang="en-US" sz="1250"/>
          </a:p>
        </p:txBody>
      </p:sp>
      <p:sp>
        <p:nvSpPr>
          <p:cNvPr id="14" name="TextBox 14"/>
          <p:cNvSpPr txBox="1"/>
          <p:nvPr/>
        </p:nvSpPr>
        <p:spPr>
          <a:xfrm>
            <a:off x="9240000" y="272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0.3505</a:t>
            </a:r>
            <a:endParaRPr lang="en-US" sz="1250"/>
          </a:p>
        </p:txBody>
      </p:sp>
      <p:sp>
        <p:nvSpPr>
          <p:cNvPr id="15" name="TextBox 15"/>
          <p:cNvSpPr txBox="1"/>
          <p:nvPr/>
        </p:nvSpPr>
        <p:spPr>
          <a:xfrm>
            <a:off x="76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Qwen3.6 raw</a:t>
            </a:r>
            <a:endParaRPr lang="en-US" sz="1250"/>
          </a:p>
        </p:txBody>
      </p:sp>
      <p:sp>
        <p:nvSpPr>
          <p:cNvPr id="16" name="TextBox 16"/>
          <p:cNvSpPr txBox="1"/>
          <p:nvPr/>
        </p:nvSpPr>
        <p:spPr>
          <a:xfrm>
            <a:off x="288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0.7842</a:t>
            </a:r>
            <a:endParaRPr lang="en-US" sz="1250"/>
          </a:p>
        </p:txBody>
      </p:sp>
      <p:sp>
        <p:nvSpPr>
          <p:cNvPr id="17" name="TextBox 17"/>
          <p:cNvSpPr txBox="1"/>
          <p:nvPr/>
        </p:nvSpPr>
        <p:spPr>
          <a:xfrm>
            <a:off x="500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0.3411</a:t>
            </a:r>
            <a:endParaRPr lang="en-US" sz="1250"/>
          </a:p>
        </p:txBody>
      </p:sp>
      <p:sp>
        <p:nvSpPr>
          <p:cNvPr id="18" name="TextBox 18"/>
          <p:cNvSpPr txBox="1"/>
          <p:nvPr/>
        </p:nvSpPr>
        <p:spPr>
          <a:xfrm>
            <a:off x="712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0.3083</a:t>
            </a:r>
            <a:endParaRPr lang="en-US" sz="1250"/>
          </a:p>
        </p:txBody>
      </p:sp>
      <p:sp>
        <p:nvSpPr>
          <p:cNvPr id="19" name="TextBox 19"/>
          <p:cNvSpPr txBox="1"/>
          <p:nvPr/>
        </p:nvSpPr>
        <p:spPr>
          <a:xfrm>
            <a:off x="9240000" y="320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0.4168</a:t>
            </a:r>
            <a:endParaRPr lang="en-US" sz="1250"/>
          </a:p>
        </p:txBody>
      </p:sp>
      <p:sp>
        <p:nvSpPr>
          <p:cNvPr id="20" name="TextBox 20"/>
          <p:cNvSpPr txBox="1"/>
          <p:nvPr/>
        </p:nvSpPr>
        <p:spPr>
          <a:xfrm>
            <a:off x="76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1">
                <a:solidFill>
                  <a:srgbClr val="222222"/>
                </a:solidFill>
              </a:rPr>
              <a:t>Qwen3.6 + MS</a:t>
            </a:r>
            <a:endParaRPr lang="en-US" sz="1250"/>
          </a:p>
        </p:txBody>
      </p:sp>
      <p:sp>
        <p:nvSpPr>
          <p:cNvPr id="21" name="TextBox 21"/>
          <p:cNvSpPr txBox="1"/>
          <p:nvPr/>
        </p:nvSpPr>
        <p:spPr>
          <a:xfrm>
            <a:off x="288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0.6631</a:t>
            </a:r>
            <a:endParaRPr lang="en-US" sz="1250"/>
          </a:p>
        </p:txBody>
      </p:sp>
      <p:sp>
        <p:nvSpPr>
          <p:cNvPr id="22" name="TextBox 22"/>
          <p:cNvSpPr txBox="1"/>
          <p:nvPr/>
        </p:nvSpPr>
        <p:spPr>
          <a:xfrm>
            <a:off x="500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0.3828</a:t>
            </a:r>
            <a:endParaRPr lang="en-US" sz="1250"/>
          </a:p>
        </p:txBody>
      </p:sp>
      <p:sp>
        <p:nvSpPr>
          <p:cNvPr id="23" name="TextBox 23"/>
          <p:cNvSpPr txBox="1"/>
          <p:nvPr/>
        </p:nvSpPr>
        <p:spPr>
          <a:xfrm>
            <a:off x="712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0.3758</a:t>
            </a:r>
            <a:endParaRPr lang="en-US" sz="1250"/>
          </a:p>
        </p:txBody>
      </p:sp>
      <p:sp>
        <p:nvSpPr>
          <p:cNvPr id="24" name="TextBox 24"/>
          <p:cNvSpPr txBox="1"/>
          <p:nvPr/>
        </p:nvSpPr>
        <p:spPr>
          <a:xfrm>
            <a:off x="9240000" y="3675000"/>
            <a:ext cx="2120000" cy="4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0.4207</a:t>
            </a:r>
            <a:endParaRPr lang="en-US" sz="1250"/>
          </a:p>
        </p:txBody>
      </p:sp>
      <p:sp>
        <p:nvSpPr>
          <p:cNvPr id="25" name="TextBox 25"/>
          <p:cNvSpPr txBox="1"/>
          <p:nvPr/>
        </p:nvSpPr>
        <p:spPr>
          <a:xfrm>
            <a:off x="76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Qwen3.6 + CDF</a:t>
            </a:r>
            <a:endParaRPr lang="en-US" sz="1250"/>
          </a:p>
        </p:txBody>
      </p:sp>
      <p:sp>
        <p:nvSpPr>
          <p:cNvPr id="26" name="TextBox 26"/>
          <p:cNvSpPr txBox="1"/>
          <p:nvPr/>
        </p:nvSpPr>
        <p:spPr>
          <a:xfrm>
            <a:off x="288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0.6405</a:t>
            </a:r>
            <a:endParaRPr lang="en-US" sz="1250"/>
          </a:p>
        </p:txBody>
      </p:sp>
      <p:sp>
        <p:nvSpPr>
          <p:cNvPr id="27" name="TextBox 27"/>
          <p:cNvSpPr txBox="1"/>
          <p:nvPr/>
        </p:nvSpPr>
        <p:spPr>
          <a:xfrm>
            <a:off x="500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0.3977</a:t>
            </a:r>
            <a:endParaRPr lang="en-US" sz="1250"/>
          </a:p>
        </p:txBody>
      </p:sp>
      <p:sp>
        <p:nvSpPr>
          <p:cNvPr id="28" name="TextBox 28"/>
          <p:cNvSpPr txBox="1"/>
          <p:nvPr/>
        </p:nvSpPr>
        <p:spPr>
          <a:xfrm>
            <a:off x="712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0.3966</a:t>
            </a:r>
            <a:endParaRPr lang="en-US" sz="1250"/>
          </a:p>
        </p:txBody>
      </p:sp>
      <p:sp>
        <p:nvSpPr>
          <p:cNvPr id="29" name="TextBox 29"/>
          <p:cNvSpPr txBox="1"/>
          <p:nvPr/>
        </p:nvSpPr>
        <p:spPr>
          <a:xfrm>
            <a:off x="9240000" y="4150000"/>
            <a:ext cx="2120000" cy="47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250" b="0">
                <a:solidFill>
                  <a:srgbClr val="222222"/>
                </a:solidFill>
              </a:rPr>
              <a:t>0.4121</a:t>
            </a:r>
            <a:endParaRPr lang="en-US" sz="1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Application: Static Replay Benchmark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560000" y="1200000"/>
            <a:ext cx="470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Candidate LLMs answer fixed historical dialogue prefixes.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Generated responses are not rolled into later turns.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A frozen personalized predictor scores every candidate response.</a:t>
            </a:r>
            <a:endParaRPr lang="en-US" sz="1450"/>
          </a:p>
          <a:p>
            <a:pPr marL="285750" indent="-171450">
              <a:buChar char="•"/>
            </a:pPr>
            <a:r>
              <a:rPr lang="en-US" sz="1450">
                <a:solidFill>
                  <a:srgbClr val="333333"/>
                </a:solidFill>
              </a:rPr>
              <a:t>Aggregate micro mean, user macro, task macro, SAT/DSAT rate, and 95% CI.</a:t>
            </a:r>
            <a:endParaRPr lang="en-US" sz="1450"/>
          </a:p>
        </p:txBody>
      </p:sp>
      <p:sp>
        <p:nvSpPr>
          <p:cNvPr id="5" name="TextBox 5"/>
          <p:cNvSpPr txBox="1"/>
          <p:nvPr/>
        </p:nvSpPr>
        <p:spPr>
          <a:xfrm>
            <a:off x="56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Historical Prefix</a:t>
            </a:r>
            <a:endParaRPr lang="en-US" sz="1350"/>
          </a:p>
        </p:txBody>
      </p:sp>
      <p:cxnSp>
        <p:nvCxnSpPr>
          <p:cNvPr id="6" name="Arrow 6"/>
          <p:cNvCxnSpPr/>
          <p:nvPr/>
        </p:nvCxnSpPr>
        <p:spPr>
          <a:xfrm>
            <a:off x="2860000" y="4525000"/>
            <a:ext cx="5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7"/>
          <p:cNvSpPr txBox="1"/>
          <p:nvPr/>
        </p:nvSpPr>
        <p:spPr>
          <a:xfrm>
            <a:off x="341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Candidate LLMs</a:t>
            </a:r>
            <a:endParaRPr lang="en-US" sz="1350"/>
          </a:p>
        </p:txBody>
      </p:sp>
      <p:cxnSp>
        <p:nvCxnSpPr>
          <p:cNvPr id="8" name="Arrow 8"/>
          <p:cNvCxnSpPr/>
          <p:nvPr/>
        </p:nvCxnSpPr>
        <p:spPr>
          <a:xfrm>
            <a:off x="5710000" y="4525000"/>
            <a:ext cx="5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9"/>
          <p:cNvSpPr txBox="1"/>
          <p:nvPr/>
        </p:nvSpPr>
        <p:spPr>
          <a:xfrm>
            <a:off x="626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Frozen Predictor</a:t>
            </a:r>
            <a:endParaRPr lang="en-US" sz="1350"/>
          </a:p>
        </p:txBody>
      </p:sp>
      <p:cxnSp>
        <p:nvCxnSpPr>
          <p:cNvPr id="10" name="Arrow 10"/>
          <p:cNvCxnSpPr/>
          <p:nvPr/>
        </p:nvCxnSpPr>
        <p:spPr>
          <a:xfrm>
            <a:off x="8560000" y="4525000"/>
            <a:ext cx="550000" cy="0"/>
          </a:xfrm>
          <a:prstGeom prst="straightConnector1">
            <a:avLst/>
          </a:prstGeom>
          <a:ln w="19050">
            <a:solidFill>
              <a:srgbClr val="666666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1"/>
          <p:cNvSpPr txBox="1"/>
          <p:nvPr/>
        </p:nvSpPr>
        <p:spPr>
          <a:xfrm>
            <a:off x="9110000" y="4200000"/>
            <a:ext cx="2300000" cy="6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222222"/>
                </a:solidFill>
              </a:rPr>
              <a:t>Aggregate Metrics</a:t>
            </a:r>
            <a:endParaRPr lang="en-US" sz="13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20000" y="180000"/>
            <a:ext cx="112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50" b="1">
                <a:solidFill>
                  <a:srgbClr val="111827"/>
                </a:solidFill>
              </a:rPr>
              <a:t>Current Status and Next Steps</a:t>
            </a:r>
            <a:endParaRPr lang="en-US" sz="2650"/>
          </a:p>
        </p:txBody>
      </p:sp>
      <p:sp>
        <p:nvSpPr>
          <p:cNvPr id="3" name="TextBox 3"/>
          <p:cNvSpPr txBox="1"/>
          <p:nvPr/>
        </p:nvSpPr>
        <p:spPr>
          <a:xfrm>
            <a:off x="420000" y="785000"/>
            <a:ext cx="2600000" cy="9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0">
                <a:solidFill>
                  <a:srgbClr val="222222"/>
                </a:solidFill>
              </a:rPr>
              <a:t/>
            </a:r>
            <a:endParaRPr lang="en-US" sz="1800"/>
          </a:p>
        </p:txBody>
      </p:sp>
      <p:sp>
        <p:nvSpPr>
          <p:cNvPr id="4" name="Bullets 4"/>
          <p:cNvSpPr txBox="1"/>
          <p:nvPr/>
        </p:nvSpPr>
        <p:spPr>
          <a:xfrm>
            <a:off x="760000" y="1300000"/>
            <a:ext cx="10000000" cy="2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333333"/>
                </a:solidFill>
              </a:rPr>
              <a:t>Implemented: personalized prediction pipeline with API/vLLM support.</a:t>
            </a:r>
            <a:endParaRPr lang="en-US" sz="1650"/>
          </a:p>
          <a:p>
            <a:pPr marL="285750" indent="-171450">
              <a:buChar char="•"/>
            </a:pPr>
            <a:r>
              <a:rPr lang="en-US" sz="1650">
                <a:solidFill>
                  <a:srgbClr val="333333"/>
                </a:solidFill>
              </a:rPr>
              <a:t>Implemented: history baselines, calibration, boundary analysis, and user-aware metrics.</a:t>
            </a:r>
            <a:endParaRPr lang="en-US" sz="1650"/>
          </a:p>
          <a:p>
            <a:pPr marL="285750" indent="-171450">
              <a:buChar char="•"/>
            </a:pPr>
            <a:r>
              <a:rPr lang="en-US" sz="1650">
                <a:solidFill>
                  <a:srgbClr val="333333"/>
                </a:solidFill>
              </a:rPr>
              <a:t>Implemented: static replay collection, scoring, and aggregation scripts.</a:t>
            </a:r>
            <a:endParaRPr lang="en-US" sz="1650"/>
          </a:p>
          <a:p>
            <a:pPr marL="285750" indent="-171450">
              <a:buChar char="•"/>
            </a:pPr>
            <a:r>
              <a:rPr lang="en-US" sz="1650">
                <a:solidFill>
                  <a:srgbClr val="333333"/>
                </a:solidFill>
              </a:rPr>
              <a:t>Next: finalize framework figure, run fixed-subset model comparison, produce first replay leaderboard.</a:t>
            </a:r>
            <a:endParaRPr lang="en-US" sz="1650"/>
          </a:p>
        </p:txBody>
      </p:sp>
      <p:sp>
        <p:nvSpPr>
          <p:cNvPr id="5" name="TextBox 5"/>
          <p:cNvSpPr txBox="1"/>
          <p:nvPr/>
        </p:nvSpPr>
        <p:spPr>
          <a:xfrm>
            <a:off x="1600000" y="4550000"/>
            <a:ext cx="8500000" cy="750000"/>
          </a:xfrm>
          <a:prstGeom prst="rect">
            <a:avLst/>
          </a:prstGeom>
          <a:solidFill>
            <a:srgbClr val="EEF4FF"/>
          </a:solidFill>
          <a:ln w="12700">
            <a:solidFill>
              <a:srgbClr val="AFC6E9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650" b="1">
                <a:solidFill>
                  <a:srgbClr val="222222"/>
                </a:solidFill>
              </a:rPr>
              <a:t>Predictor validation  -&gt;  Replay benchmark  -&gt;  Paper packaging</a:t>
            </a:r>
            <a:endParaRPr lang="en-US"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UIR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自定义 6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UIR" id="{85CE430E-AF9E-4EE5-B558-D32304AEEA59}" vid="{D4B1CA04-1F70-4B94-8E95-D73A3286EA3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THUIR</Template>
  <TotalTime>1200</TotalTime>
  <Words>579</Words>
  <Application>Microsoft Macintosh PowerPoint</Application>
  <PresentationFormat>宽屏</PresentationFormat>
  <Paragraphs>106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Wingdings</vt:lpstr>
      <vt:lpstr>THUIR</vt:lpstr>
      <vt:lpstr>RecLLMSim: A Task-based Recommendation Conversation Dataset</vt:lpstr>
      <vt:lpstr>Introduction</vt:lpstr>
      <vt:lpstr>Introduction</vt:lpstr>
      <vt:lpstr>Related Work: Synthetic Data Generation via LLMs</vt:lpstr>
      <vt:lpstr>Related Work: LLMs for CRS</vt:lpstr>
      <vt:lpstr>Dataset Construction</vt:lpstr>
      <vt:lpstr>Dataset Construction</vt:lpstr>
      <vt:lpstr>Dataset Construction</vt:lpstr>
      <vt:lpstr>Dataset Construction</vt:lpstr>
      <vt:lpstr>Dataset Construction</vt:lpstr>
      <vt:lpstr>Dataset Construction</vt:lpstr>
      <vt:lpstr>Overall Characteristics</vt:lpstr>
      <vt:lpstr>User Profiles Distributions</vt:lpstr>
      <vt:lpstr>User Profiles Distributions</vt:lpstr>
      <vt:lpstr>Dataset Characteristics</vt:lpstr>
      <vt:lpstr>Case Study</vt:lpstr>
      <vt:lpstr>Potential Usage</vt:lpstr>
      <vt:lpstr>Conclusion and Future Work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哲凡 王</dc:creator>
  <cp:lastModifiedBy>哲凡 王</cp:lastModifiedBy>
  <cp:revision>265</cp:revision>
  <dcterms:created xsi:type="dcterms:W3CDTF">2023-11-05T07:53:20Z</dcterms:created>
  <dcterms:modified xsi:type="dcterms:W3CDTF">2024-05-21T02:07:49Z</dcterms:modified>
</cp:coreProperties>
</file>